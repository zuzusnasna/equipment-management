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9" r:id="rId19"/>
    <p:sldId id="287" r:id="rId20"/>
    <p:sldId id="281" r:id="rId21"/>
    <p:sldId id="282" r:id="rId22"/>
    <p:sldId id="283" r:id="rId23"/>
    <p:sldId id="285" r:id="rId24"/>
    <p:sldId id="288" r:id="rId25"/>
    <p:sldId id="289" r:id="rId26"/>
    <p:sldId id="290" r:id="rId27"/>
    <p:sldId id="298" r:id="rId28"/>
    <p:sldId id="301" r:id="rId29"/>
    <p:sldId id="302" r:id="rId30"/>
    <p:sldId id="303" r:id="rId31"/>
    <p:sldId id="305" r:id="rId32"/>
    <p:sldId id="293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4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48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147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346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886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707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089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7719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11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403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41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330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199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222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280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753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7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399845"/>
            <a:ext cx="4114800" cy="36011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524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endParaRPr lang="en-US" sz="3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969264"/>
            <a:ext cx="81381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 Care 요구사항 정의서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65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759952" y="0"/>
            <a:ext cx="384048" cy="5143500"/>
          </a:xfrm>
          <a:prstGeom prst="rect">
            <a:avLst/>
          </a:prstGeom>
          <a:solidFill>
            <a:srgbClr val="19B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12A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 Management Service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F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· 백엔드 구현 · React 프론트엔드 구축</a:t>
            </a:r>
            <a:endParaRPr lang="en-US" sz="1500" dirty="0"/>
          </a:p>
        </p:txBody>
      </p:sp>
      <p:sp>
        <p:nvSpPr>
          <p:cNvPr id="4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481328"/>
            <a:ext cx="1325880" cy="45720"/>
          </a:xfrm>
          <a:prstGeom prst="rect">
            <a:avLst/>
          </a:prstGeom>
          <a:solidFill>
            <a:srgbClr val="22D1DE"/>
          </a:solidFill>
          <a:ln w="12700">
            <a:solidFill>
              <a:srgbClr val="22D1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>
                <a:solidFill>
                  <a:srgbClr val="84C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 &amp; Implementation Portfolio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7726679" cy="697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400" b="1">
                <a:solidFill>
                  <a:srgbClr val="2ECADA"/>
                </a:solidFill>
                <a:latin typeface="Malgun Gothic"/>
              </a:rPr>
              <a:t>TECH STACK</a:t>
            </a:r>
          </a:p>
          <a:p>
            <a:pPr algn="l">
              <a:spcAft>
                <a:spcPts val="100"/>
              </a:spcAft>
            </a:pPr>
            <a:r>
              <a:rPr lang="en-US" sz="1400">
                <a:solidFill>
                  <a:srgbClr val="DEF4F7"/>
                </a:solidFill>
                <a:latin typeface="Malgun Gothic"/>
              </a:rPr>
              <a:t>React · Fetch API · Spring Boot · Spring Security · Spring Data JPA · Hibernate</a:t>
            </a:r>
          </a:p>
          <a:p>
            <a:pPr algn="l"/>
            <a:r>
              <a:rPr lang="en-US" sz="1400">
                <a:solidFill>
                  <a:srgbClr val="DEF4F7"/>
                </a:solidFill>
                <a:latin typeface="Malgun Gothic"/>
              </a:rPr>
              <a:t>Oracle Database · REST API · Swagger · Postman · JUnit · MockMvc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900" dirty="0"/>
          </a:p>
        </p:txBody>
      </p:sp>
      <p:sp>
        <p:nvSpPr>
          <p:cNvPr id="20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9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Text 5"/>
          <p:cNvSpPr/>
          <p:nvPr/>
        </p:nvSpPr>
        <p:spPr>
          <a:xfrm>
            <a:off x="652920" y="10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/>
          </a:p>
        </p:txBody>
      </p:sp>
      <p:sp>
        <p:nvSpPr>
          <p:cNvPr id="204" name="Text 6"/>
          <p:cNvSpPr/>
          <p:nvPr/>
        </p:nvSpPr>
        <p:spPr>
          <a:xfrm>
            <a:off x="1122920" y="9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200"/>
          </a:p>
        </p:txBody>
      </p:sp>
      <p:sp>
        <p:nvSpPr>
          <p:cNvPr id="205" name="Text 6"/>
          <p:cNvSpPr/>
          <p:nvPr/>
        </p:nvSpPr>
        <p:spPr>
          <a:xfrm>
            <a:off x="1122920" y="12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· 문제 정의 · 기술 스택</a:t>
            </a:r>
            <a:endParaRPr lang="en-US" sz="900"/>
          </a:p>
        </p:txBody>
      </p:sp>
      <p:sp>
        <p:nvSpPr>
          <p:cNvPr id="206" name="Text 5"/>
          <p:cNvSpPr/>
          <p:nvPr/>
        </p:nvSpPr>
        <p:spPr>
          <a:xfrm>
            <a:off x="3622920" y="10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p.3–4</a:t>
            </a:r>
            <a:endParaRPr lang="en-US" sz="900"/>
          </a:p>
        </p:txBody>
      </p:sp>
      <p:sp>
        <p:nvSpPr>
          <p:cNvPr id="20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5"/>
          <p:cNvSpPr/>
          <p:nvPr/>
        </p:nvSpPr>
        <p:spPr>
          <a:xfrm>
            <a:off x="652920" y="16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/>
          </a:p>
        </p:txBody>
      </p:sp>
      <p:sp>
        <p:nvSpPr>
          <p:cNvPr id="210" name="Text 6"/>
          <p:cNvSpPr/>
          <p:nvPr/>
        </p:nvSpPr>
        <p:spPr>
          <a:xfrm>
            <a:off x="1122920" y="15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및 업무 배정</a:t>
            </a:r>
            <a:endParaRPr lang="en-US" sz="1200"/>
          </a:p>
        </p:txBody>
      </p:sp>
      <p:sp>
        <p:nvSpPr>
          <p:cNvPr id="211" name="Text 6"/>
          <p:cNvSpPr/>
          <p:nvPr/>
        </p:nvSpPr>
        <p:spPr>
          <a:xfrm>
            <a:off x="1122920" y="18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정의 · 배정 흐름</a:t>
            </a:r>
            <a:endParaRPr lang="en-US" sz="900"/>
          </a:p>
        </p:txBody>
      </p:sp>
      <p:sp>
        <p:nvSpPr>
          <p:cNvPr id="212" name="Text 5"/>
          <p:cNvSpPr/>
          <p:nvPr/>
        </p:nvSpPr>
        <p:spPr>
          <a:xfrm>
            <a:off x="3622920" y="16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p.5–6</a:t>
            </a:r>
            <a:endParaRPr lang="en-US" sz="900"/>
          </a:p>
        </p:txBody>
      </p:sp>
      <p:sp>
        <p:nvSpPr>
          <p:cNvPr id="2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Text 5"/>
          <p:cNvSpPr/>
          <p:nvPr/>
        </p:nvSpPr>
        <p:spPr>
          <a:xfrm>
            <a:off x="652920" y="22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/>
          </a:p>
        </p:txBody>
      </p:sp>
      <p:sp>
        <p:nvSpPr>
          <p:cNvPr id="216" name="Text 6"/>
          <p:cNvSpPr/>
          <p:nvPr/>
        </p:nvSpPr>
        <p:spPr>
          <a:xfrm>
            <a:off x="1122920" y="21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</a:t>
            </a:r>
            <a:endParaRPr lang="en-US" sz="1200"/>
          </a:p>
        </p:txBody>
      </p:sp>
      <p:sp>
        <p:nvSpPr>
          <p:cNvPr id="217" name="Text 6"/>
          <p:cNvSpPr/>
          <p:nvPr/>
        </p:nvSpPr>
        <p:spPr>
          <a:xfrm>
            <a:off x="1122920" y="24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· DISPATCHER · ENGINEER · 공통</a:t>
            </a:r>
            <a:endParaRPr lang="en-US" sz="900"/>
          </a:p>
        </p:txBody>
      </p:sp>
      <p:sp>
        <p:nvSpPr>
          <p:cNvPr id="218" name="Text 5"/>
          <p:cNvSpPr/>
          <p:nvPr/>
        </p:nvSpPr>
        <p:spPr>
          <a:xfrm>
            <a:off x="3622920" y="22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p.7–10</a:t>
            </a:r>
            <a:endParaRPr lang="en-US" sz="900"/>
          </a:p>
        </p:txBody>
      </p:sp>
      <p:sp>
        <p:nvSpPr>
          <p:cNvPr id="2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Text 5"/>
          <p:cNvSpPr/>
          <p:nvPr/>
        </p:nvSpPr>
        <p:spPr>
          <a:xfrm>
            <a:off x="652920" y="28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/>
          </a:p>
        </p:txBody>
      </p:sp>
      <p:sp>
        <p:nvSpPr>
          <p:cNvPr id="222" name="Text 6"/>
          <p:cNvSpPr/>
          <p:nvPr/>
        </p:nvSpPr>
        <p:spPr>
          <a:xfrm>
            <a:off x="1122920" y="27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</a:t>
            </a:r>
            <a:endParaRPr lang="en-US" sz="1200"/>
          </a:p>
        </p:txBody>
      </p:sp>
      <p:sp>
        <p:nvSpPr>
          <p:cNvPr id="223" name="Text 6"/>
          <p:cNvSpPr/>
          <p:nvPr/>
        </p:nvSpPr>
        <p:spPr>
          <a:xfrm>
            <a:off x="1122920" y="30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· 보안 · 사용성 · 직무 분리</a:t>
            </a:r>
            <a:endParaRPr lang="en-US" sz="900"/>
          </a:p>
        </p:txBody>
      </p:sp>
      <p:sp>
        <p:nvSpPr>
          <p:cNvPr id="224" name="Text 5"/>
          <p:cNvSpPr/>
          <p:nvPr/>
        </p:nvSpPr>
        <p:spPr>
          <a:xfrm>
            <a:off x="3622920" y="28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p.11–12</a:t>
            </a:r>
            <a:endParaRPr lang="en-US" sz="900"/>
          </a:p>
        </p:txBody>
      </p:sp>
      <p:sp>
        <p:nvSpPr>
          <p:cNvPr id="2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5"/>
          <p:cNvSpPr/>
          <p:nvPr/>
        </p:nvSpPr>
        <p:spPr>
          <a:xfrm>
            <a:off x="652920" y="34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/>
          </a:p>
        </p:txBody>
      </p:sp>
      <p:sp>
        <p:nvSpPr>
          <p:cNvPr id="228" name="Text 6"/>
          <p:cNvSpPr/>
          <p:nvPr/>
        </p:nvSpPr>
        <p:spPr>
          <a:xfrm>
            <a:off x="1122920" y="33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및 화면 범위</a:t>
            </a:r>
            <a:endParaRPr lang="en-US" sz="1200"/>
          </a:p>
        </p:txBody>
      </p:sp>
      <p:sp>
        <p:nvSpPr>
          <p:cNvPr id="229" name="Text 6"/>
          <p:cNvSpPr/>
          <p:nvPr/>
        </p:nvSpPr>
        <p:spPr>
          <a:xfrm>
            <a:off x="1122920" y="36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범위 · 화면 · 기능 매핑</a:t>
            </a:r>
            <a:endParaRPr lang="en-US" sz="900"/>
          </a:p>
        </p:txBody>
      </p:sp>
      <p:sp>
        <p:nvSpPr>
          <p:cNvPr id="230" name="Text 5"/>
          <p:cNvSpPr/>
          <p:nvPr/>
        </p:nvSpPr>
        <p:spPr>
          <a:xfrm>
            <a:off x="3622920" y="34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p.13–15</a:t>
            </a:r>
            <a:endParaRPr lang="en-US" sz="900"/>
          </a:p>
        </p:txBody>
      </p:sp>
      <p:sp>
        <p:nvSpPr>
          <p:cNvPr id="23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Text 5"/>
          <p:cNvSpPr/>
          <p:nvPr/>
        </p:nvSpPr>
        <p:spPr>
          <a:xfrm>
            <a:off x="652920" y="40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/>
          </a:p>
        </p:txBody>
      </p:sp>
      <p:sp>
        <p:nvSpPr>
          <p:cNvPr id="234" name="Text 6"/>
          <p:cNvSpPr/>
          <p:nvPr/>
        </p:nvSpPr>
        <p:spPr>
          <a:xfrm>
            <a:off x="1122920" y="39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프로세스</a:t>
            </a:r>
            <a:endParaRPr lang="en-US" sz="1200"/>
          </a:p>
        </p:txBody>
      </p:sp>
      <p:sp>
        <p:nvSpPr>
          <p:cNvPr id="235" name="Text 6"/>
          <p:cNvSpPr/>
          <p:nvPr/>
        </p:nvSpPr>
        <p:spPr>
          <a:xfrm>
            <a:off x="1122920" y="42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→ 배정 → 처리 → 검토 · 완료</a:t>
            </a:r>
            <a:endParaRPr lang="en-US" sz="900"/>
          </a:p>
        </p:txBody>
      </p:sp>
      <p:sp>
        <p:nvSpPr>
          <p:cNvPr id="236" name="Text 5"/>
          <p:cNvSpPr/>
          <p:nvPr/>
        </p:nvSpPr>
        <p:spPr>
          <a:xfrm>
            <a:off x="3622920" y="40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p.16</a:t>
            </a:r>
            <a:endParaRPr lang="en-US" sz="900"/>
          </a:p>
        </p:txBody>
      </p:sp>
      <p:sp>
        <p:nvSpPr>
          <p:cNvPr id="23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9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9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Text 5"/>
          <p:cNvSpPr/>
          <p:nvPr/>
        </p:nvSpPr>
        <p:spPr>
          <a:xfrm>
            <a:off x="4851080" y="10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/>
          </a:p>
        </p:txBody>
      </p:sp>
      <p:sp>
        <p:nvSpPr>
          <p:cNvPr id="240" name="Text 6"/>
          <p:cNvSpPr/>
          <p:nvPr/>
        </p:nvSpPr>
        <p:spPr>
          <a:xfrm>
            <a:off x="5321080" y="9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en-US" sz="1200"/>
          </a:p>
        </p:txBody>
      </p:sp>
      <p:sp>
        <p:nvSpPr>
          <p:cNvPr id="241" name="Text 6"/>
          <p:cNvSpPr/>
          <p:nvPr/>
        </p:nvSpPr>
        <p:spPr>
          <a:xfrm>
            <a:off x="5321080" y="12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엔티티 · 테이블 관계도</a:t>
            </a:r>
            <a:endParaRPr lang="en-US" sz="900"/>
          </a:p>
        </p:txBody>
      </p:sp>
      <p:sp>
        <p:nvSpPr>
          <p:cNvPr id="242" name="Text 5"/>
          <p:cNvSpPr/>
          <p:nvPr/>
        </p:nvSpPr>
        <p:spPr>
          <a:xfrm>
            <a:off x="7821080" y="10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p.17–18</a:t>
            </a:r>
            <a:endParaRPr lang="en-US" sz="900"/>
          </a:p>
        </p:txBody>
      </p:sp>
      <p:sp>
        <p:nvSpPr>
          <p:cNvPr id="24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15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15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5" name="Text 5"/>
          <p:cNvSpPr/>
          <p:nvPr/>
        </p:nvSpPr>
        <p:spPr>
          <a:xfrm>
            <a:off x="4851080" y="16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/>
          </a:p>
        </p:txBody>
      </p:sp>
      <p:sp>
        <p:nvSpPr>
          <p:cNvPr id="246" name="Text 6"/>
          <p:cNvSpPr/>
          <p:nvPr/>
        </p:nvSpPr>
        <p:spPr>
          <a:xfrm>
            <a:off x="5321080" y="15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200"/>
          </a:p>
        </p:txBody>
      </p:sp>
      <p:sp>
        <p:nvSpPr>
          <p:cNvPr id="247" name="Text 6"/>
          <p:cNvSpPr/>
          <p:nvPr/>
        </p:nvSpPr>
        <p:spPr>
          <a:xfrm>
            <a:off x="5321080" y="18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Boot · Oracle</a:t>
            </a:r>
            <a:endParaRPr lang="en-US" sz="900"/>
          </a:p>
        </p:txBody>
      </p:sp>
      <p:sp>
        <p:nvSpPr>
          <p:cNvPr id="248" name="Text 5"/>
          <p:cNvSpPr/>
          <p:nvPr/>
        </p:nvSpPr>
        <p:spPr>
          <a:xfrm>
            <a:off x="7821080" y="16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p.19</a:t>
            </a:r>
            <a:endParaRPr lang="en-US" sz="900"/>
          </a:p>
        </p:txBody>
      </p:sp>
      <p:sp>
        <p:nvSpPr>
          <p:cNvPr id="24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21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21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Text 5"/>
          <p:cNvSpPr/>
          <p:nvPr/>
        </p:nvSpPr>
        <p:spPr>
          <a:xfrm>
            <a:off x="4851080" y="22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/>
          </a:p>
        </p:txBody>
      </p:sp>
      <p:sp>
        <p:nvSpPr>
          <p:cNvPr id="252" name="Text 6"/>
          <p:cNvSpPr/>
          <p:nvPr/>
        </p:nvSpPr>
        <p:spPr>
          <a:xfrm>
            <a:off x="5321080" y="21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예외 · 테스트</a:t>
            </a:r>
            <a:endParaRPr lang="en-US" sz="1200"/>
          </a:p>
        </p:txBody>
      </p:sp>
      <p:sp>
        <p:nvSpPr>
          <p:cNvPr id="253" name="Text 6"/>
          <p:cNvSpPr/>
          <p:nvPr/>
        </p:nvSpPr>
        <p:spPr>
          <a:xfrm>
            <a:off x="5321080" y="24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 · 예외 처리 · 검증 결과</a:t>
            </a:r>
            <a:endParaRPr lang="en-US" sz="900"/>
          </a:p>
        </p:txBody>
      </p:sp>
      <p:sp>
        <p:nvSpPr>
          <p:cNvPr id="254" name="Text 5"/>
          <p:cNvSpPr/>
          <p:nvPr/>
        </p:nvSpPr>
        <p:spPr>
          <a:xfrm>
            <a:off x="7821080" y="22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p.20–25</a:t>
            </a:r>
            <a:endParaRPr lang="en-US" sz="900"/>
          </a:p>
        </p:txBody>
      </p:sp>
      <p:sp>
        <p:nvSpPr>
          <p:cNvPr id="25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27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27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7" name="Text 5"/>
          <p:cNvSpPr/>
          <p:nvPr/>
        </p:nvSpPr>
        <p:spPr>
          <a:xfrm>
            <a:off x="4851080" y="28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/>
          </a:p>
        </p:txBody>
      </p:sp>
      <p:sp>
        <p:nvSpPr>
          <p:cNvPr id="258" name="Text 6"/>
          <p:cNvSpPr/>
          <p:nvPr/>
        </p:nvSpPr>
        <p:spPr>
          <a:xfrm>
            <a:off x="5321080" y="27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의사결정 및 회고</a:t>
            </a:r>
            <a:endParaRPr lang="en-US" sz="1200"/>
          </a:p>
        </p:txBody>
      </p:sp>
      <p:sp>
        <p:nvSpPr>
          <p:cNvPr id="259" name="Text 6"/>
          <p:cNvSpPr/>
          <p:nvPr/>
        </p:nvSpPr>
        <p:spPr>
          <a:xfrm>
            <a:off x="5321080" y="30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 · 문제 해결 경험</a:t>
            </a:r>
            <a:endParaRPr lang="en-US" sz="900"/>
          </a:p>
        </p:txBody>
      </p:sp>
      <p:sp>
        <p:nvSpPr>
          <p:cNvPr id="260" name="Text 5"/>
          <p:cNvSpPr/>
          <p:nvPr/>
        </p:nvSpPr>
        <p:spPr>
          <a:xfrm>
            <a:off x="7821080" y="28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p.26–27</a:t>
            </a:r>
            <a:endParaRPr lang="en-US" sz="900"/>
          </a:p>
        </p:txBody>
      </p:sp>
      <p:sp>
        <p:nvSpPr>
          <p:cNvPr id="26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3300000"/>
            <a:ext cx="3940000" cy="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1080" y="3300000"/>
            <a:ext cx="54864" cy="56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Text 5"/>
          <p:cNvSpPr/>
          <p:nvPr/>
        </p:nvSpPr>
        <p:spPr>
          <a:xfrm>
            <a:off x="4851080" y="3450000"/>
            <a:ext cx="4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/>
          </a:p>
        </p:txBody>
      </p:sp>
      <p:sp>
        <p:nvSpPr>
          <p:cNvPr id="264" name="Text 6"/>
          <p:cNvSpPr/>
          <p:nvPr/>
        </p:nvSpPr>
        <p:spPr>
          <a:xfrm>
            <a:off x="5321080" y="338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개발 구현</a:t>
            </a:r>
            <a:endParaRPr lang="en-US" sz="1200"/>
          </a:p>
        </p:txBody>
      </p:sp>
      <p:sp>
        <p:nvSpPr>
          <p:cNvPr id="265" name="Text 6"/>
          <p:cNvSpPr/>
          <p:nvPr/>
        </p:nvSpPr>
        <p:spPr>
          <a:xfrm>
            <a:off x="5321080" y="3620000"/>
            <a:ext cx="29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정비 · UI · 인증 · 결과</a:t>
            </a:r>
            <a:endParaRPr lang="en-US" sz="900"/>
          </a:p>
        </p:txBody>
      </p:sp>
      <p:sp>
        <p:nvSpPr>
          <p:cNvPr id="266" name="Text 5"/>
          <p:cNvSpPr/>
          <p:nvPr/>
        </p:nvSpPr>
        <p:spPr>
          <a:xfrm>
            <a:off x="7821080" y="3450000"/>
            <a:ext cx="65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p.28–34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502920" y="4580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프로젝트 개요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tatement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88720"/>
            <a:ext cx="8138160" cy="914400"/>
          </a:xfrm>
          <a:prstGeom prst="rect">
            <a:avLst/>
          </a:prstGeom>
          <a:solidFill>
            <a:srgbClr val="12283C"/>
          </a:solidFill>
          <a:ln w="12700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장비의 장애 · 점검 · 유지보수 이력을 한곳에서 관리하고,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상태와 장애 처리 현황을 쉽게 확인할 수 있도록 하는 시스템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80391"/>
              </p:ext>
            </p:extLst>
          </p:nvPr>
        </p:nvGraphicFramePr>
        <p:xfrm>
          <a:off x="502920" y="2286000"/>
          <a:ext cx="8138160" cy="2346960"/>
        </p:xfrm>
        <a:graphic>
          <a:graphicData uri="http://schemas.openxmlformats.org/drawingml/2006/table">
            <a:tbl>
              <a:tblPr/>
              <a:tblGrid>
                <a:gridCol w="1723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4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EMS — 설비 이력 통합 관리 시스템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이력을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시스템에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축적하고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이력을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근거로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적합한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엔지니어에게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업무를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배정하는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프로세스</a:t>
                      </a: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생산장비 · 냉각장비 · 환경설비 등 전사 보유 장비, 회사/사용자/장비 분류 기준 정보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실시간 센서 연동(PLC/IoT), 회계·구매 시스템 연동, 모바일 네이티브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스택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Spring Boot · JPA · RDBMS · 웹 기반 관리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문제 정의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상태(As-Is)의 문제점과 시스템이 달성해야 할 목표(To-Be)</a:t>
            </a:r>
            <a:endParaRPr lang="en-US" sz="120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864" cy="68580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이력이 흩어져 있음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장애·점검 기록이 엑셀, 수기 대장, 개인 메신저에 분산되어 축적되지 않음</a:t>
            </a:r>
            <a:endParaRPr lang="en-US" sz="11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813816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54864" cy="68580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파악이 어려움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어떤 장비가 수리 중이고 누가 처리 중인지 즉시 확인할 수 없음</a:t>
            </a:r>
            <a:endParaRPr lang="en-US" sz="11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54864" cy="6858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배정이 주관적임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401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어떤 장애를 맡을지가 구두로 결정되고, 배정 근거와 책임 단계가 남지 않음</a:t>
            </a:r>
            <a:endParaRPr lang="en-US" sz="11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9624"/>
            <a:ext cx="8138160" cy="6858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9624"/>
            <a:ext cx="54864" cy="6858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922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개선 불가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1970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빈도·처리 시간 통계가 없어 예방 정비 판단 근거가 부족함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사용자 정의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2606040" cy="3017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43000"/>
            <a:ext cx="54864" cy="30175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225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MASTER</a:t>
            </a:r>
            <a:endParaRPr lang="en-US" sz="130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1490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전체를 관리하는 관리자</a:t>
            </a:r>
            <a:endParaRPr lang="en-US" sz="900" dirty="0"/>
          </a:p>
        </p:txBody>
      </p:sp>
      <p:sp>
        <p:nvSpPr>
          <p:cNvPr id="9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1828800"/>
            <a:ext cx="457200" cy="274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1938528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등록 및 관리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계정 관리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권한 관리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분류 관리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정보 관리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처리 이력 전체 조회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정보 관리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회사 데이터 접근</a:t>
            </a:r>
            <a:endParaRPr lang="en-US" sz="85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143000"/>
            <a:ext cx="2606040" cy="3017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143000"/>
            <a:ext cx="54864" cy="301752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225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DISPATCHER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44" y="1490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장애를 확인하고 엔지니어에게 업무를 지시</a:t>
            </a:r>
            <a:endParaRPr lang="en-US" sz="9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828800"/>
            <a:ext cx="457200" cy="27432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938528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회사의 장비 상태 조회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접수 현황 확인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장애 이력 조회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원인 및 처리 이력 확인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엔지니어별 담당 장비/이력 확인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장애에 적합한 엔지니어 배정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우선순위 지정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내용 및 요청사항 전달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처리 진행 상태 확인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완료된 장애 확인</a:t>
            </a:r>
            <a:endParaRPr lang="en-US" sz="85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143000"/>
            <a:ext cx="2606040" cy="3017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143000"/>
            <a:ext cx="54864" cy="30175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08776" y="1225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ENGINEER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08776" y="14904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장비를 점검하고 장애를 처리</a:t>
            </a:r>
            <a:endParaRPr lang="en-US" sz="900" dirty="0"/>
          </a:p>
        </p:txBody>
      </p:sp>
      <p:sp>
        <p:nvSpPr>
          <p:cNvPr id="21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8776" y="1828800"/>
            <a:ext cx="457200" cy="27432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08776" y="1938528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장비 조회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상태 확인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배정된 장애 확인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처리 시작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내용 입력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내용 입력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 입력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상태 변경</a:t>
            </a:r>
            <a:endParaRPr lang="en-US" sz="850" dirty="0"/>
          </a:p>
          <a:p>
            <a:pPr marL="152400" indent="-152400" algn="l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처리 이력 조회</a:t>
            </a:r>
            <a:endParaRPr lang="en-US" sz="850" dirty="0"/>
          </a:p>
        </p:txBody>
      </p:sp>
      <p:sp>
        <p:nvSpPr>
          <p:cNvPr id="23" name="rul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51960"/>
            <a:ext cx="8138160" cy="384048"/>
          </a:xfrm>
          <a:prstGeom prst="rect">
            <a:avLst/>
          </a:prstGeom>
          <a:solidFill>
            <a:srgbClr val="12283C"/>
          </a:solidFill>
          <a:ln w="12700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원칙: 업무 배정 권한은 DISPATCHER 전용. ENGINEER는 다른 엔지니어에게 임의로 업무를 배정할 수 없다.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3-1. 업무 배정 흐름 (DISPATCHER 중심)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515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CRUD가 아닌 업무 프로세스로 동작하는 핵심 시나리오</a:t>
            </a:r>
            <a:endParaRPr lang="en-US" sz="110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4864" cy="82296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9224" y="1536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EQ-001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" y="1819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발생</a:t>
            </a:r>
            <a:endParaRPr lang="en-US" sz="900" dirty="0"/>
          </a:p>
        </p:txBody>
      </p:sp>
      <p:sp>
        <p:nvSpPr>
          <p:cNvPr id="10" name="Tex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4872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9464" y="1417320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9464" y="1417320"/>
            <a:ext cx="54864" cy="82296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15768" y="1536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접수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15768" y="1819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등록 · 상태: 접수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71416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6008" y="1417320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6008" y="1417320"/>
            <a:ext cx="54864" cy="82296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82312" y="1536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</a:t>
            </a:r>
            <a:endParaRPr lang="en-US" sz="1150" dirty="0"/>
          </a:p>
        </p:txBody>
      </p:sp>
      <p:sp>
        <p:nvSpPr>
          <p:cNvPr id="19" name="Tex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82312" y="1819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장애 이력 확인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1417320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1417320"/>
            <a:ext cx="54864" cy="82296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48856" y="1536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배정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48856" y="1819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· 우선순위 지정</a:t>
            </a:r>
            <a:endParaRPr lang="en-US" sz="900" dirty="0"/>
          </a:p>
        </p:txBody>
      </p:sp>
      <p:sp>
        <p:nvSpPr>
          <p:cNvPr id="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41448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41448"/>
            <a:ext cx="54864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" y="28437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 확인 · 현장 조치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04872" y="27157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9464" y="2441448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9464" y="2441448"/>
            <a:ext cx="54864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715768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· 조치 입력</a:t>
            </a:r>
            <a:endParaRPr lang="en-US" sz="1150" dirty="0"/>
          </a:p>
        </p:txBody>
      </p:sp>
      <p:sp>
        <p:nvSpPr>
          <p:cNvPr id="33" name="Text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15768" y="28437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 등록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71416" y="27157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6008" y="2441448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6008" y="2441448"/>
            <a:ext cx="54864" cy="82296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82312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 확인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82312" y="28437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내용 검토</a:t>
            </a:r>
            <a:endParaRPr lang="en-US" sz="900" dirty="0"/>
          </a:p>
        </p:txBody>
      </p:sp>
      <p:sp>
        <p:nvSpPr>
          <p:cNvPr id="39" name="Text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27157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2441448"/>
            <a:ext cx="1901952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02552" y="2441448"/>
            <a:ext cx="54864" cy="822960"/>
          </a:xfrm>
          <a:prstGeom prst="rect">
            <a:avLst/>
          </a:prstGeom>
          <a:solidFill>
            <a:srgbClr val="12283C"/>
          </a:solidFill>
          <a:ln w="12700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8856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· 이력화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48856" y="28437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완료 · 이력 저장</a:t>
            </a:r>
            <a:endParaRPr lang="en-US" sz="900" dirty="0"/>
          </a:p>
        </p:txBody>
      </p:sp>
      <p:sp>
        <p:nvSpPr>
          <p:cNvPr id="44" name="callout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777240"/>
          </a:xfrm>
          <a:prstGeom prst="rect">
            <a:avLst/>
          </a:prstGeom>
          <a:solidFill>
            <a:srgbClr val="F4F6F9"/>
          </a:solidFill>
          <a:ln w="1587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6027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DISPATCHER의 판단 근거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38404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장비의 센서 오류는 과거에 김철수 엔지니어가 처리했음"  →  동일 엔지니어에게 우선 배정</a:t>
            </a:r>
            <a:endParaRPr lang="en-US" sz="1200" dirty="0"/>
          </a:p>
        </p:txBody>
      </p:sp>
      <p:sp>
        <p:nvSpPr>
          <p:cNvPr id="47" name="Text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시사점: 장애 이력은 조회용 데이터가 아니라 배정 의사결정의 입력값이다. 이력 → 엔지니어 매핑 조회가 필수 기능.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4-1. 기능 요구사항 — MASTER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rol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</a:t>
            </a:r>
            <a:endParaRPr lang="en-US" sz="10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1060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전체를 관리하는 관리자 · 7개 기능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709757"/>
              </p:ext>
            </p:extLst>
          </p:nvPr>
        </p:nvGraphicFramePr>
        <p:xfrm>
          <a:off x="502920" y="1463040"/>
          <a:ext cx="8138160" cy="307238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시스템을 사용하는 회사의 등록 · 수정 · 조회 및 사용 상태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계정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계정의 생성 · 수정 · 비활성화 및 소속 회사 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권한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MASTER / DISPATCHER / ENGINEER 역할 부여 및 변경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분류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생산장비 · 냉각장비 · 환경설비 등 장비 분류 체계 등록 및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정보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장비번호 · 장비명 · 분류 · 설치 위치 · 상태 등 장비 마스터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기준 정보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유형, 처리 상태, 우선순위 등 공통 코드와 기준 정보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이력 조회 및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회사의 장애 처리 이력을 조건별로 조회 및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4-2. 기능 요구사항 — DISPATCHER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rol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1060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장애를 확인하고 엔지니어에게 업무를 지시 · 7개 기능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46819"/>
              </p:ext>
            </p:extLst>
          </p:nvPr>
        </p:nvGraphicFramePr>
        <p:xfrm>
          <a:off x="502920" y="1463040"/>
          <a:ext cx="8138160" cy="307238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회사가 보유한 장비의 정보와 현재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접수 현황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접수된 장애와 미배정 건을 실시간으로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이력 · 원인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장비의 과거 장애 이력과 원인 · 처리 내용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엔지니어별 이력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엔지니어별 담당 장비, 처리 이력, 진행 중 건수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 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내용과 과거 이력을 근거로 적합한 엔지니어에게 업무 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 · 요청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우선순위 지정 및 작업 내용 · 요청사항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상태 · 완료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배정한 장애의 진행 상태 추적 및 처리 완료 건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4-3. 기능 요구사항 — ENGINEER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rol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</a:t>
            </a:r>
            <a:endParaRPr lang="en-US" sz="1000" dirty="0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1060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장비를 점검하고 장애를 처리 · 8개 기능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29901"/>
              </p:ext>
            </p:extLst>
          </p:nvPr>
        </p:nvGraphicFramePr>
        <p:xfrm>
          <a:off x="502920" y="1417320"/>
          <a:ext cx="8138160" cy="279806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장비 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본인이 담당하는 장비의 정보 및 현재 상태 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배정된 장애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본인에게 배정된 장애의 장비, 장애 내용, 우선순위 및 요청사항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처리 시작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배정된 장애의 처리 시작 및 처리 상태 변경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원인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점검을 통해 확인한 장애 원인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 내용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해결을 위해 수행한 조치 내용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결과 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처리 결과 및 특이사항 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상태 변경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 → 처리중 → 처리완료 등 처리 상태 변경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처리 이력 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본인이 처리한 장애의 원인 · 조치 · 결과 이력 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4-4. 기능 요구사항 — 공통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rol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solidFill>
            <a:srgbClr val="12283C"/>
          </a:solidFill>
          <a:ln w="12700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607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1060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역할이 사용하는 기능 · 6개 기능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34585"/>
              </p:ext>
            </p:extLst>
          </p:nvPr>
        </p:nvGraphicFramePr>
        <p:xfrm>
          <a:off x="502920" y="1463040"/>
          <a:ext cx="8138160" cy="26883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/ 로그아웃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계정과 비밀번호를 통한 로그인 및 로그아웃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장비, 장애, 사용자 등의 정보를 통합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권한에 따라 장비 상태, 장애 현황, 처리 현황 등 주요 정보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/ 공지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배정, 장애 상태 변경, 처리 요청 및 시스템 공지사항 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정보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로그인한 사용자의 개인정보 및 비밀번호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이력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사용자의 권한 및 소속 회사에 따라 장애 발생 · 처리 · 완료 이력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비기능 요구사항 (1/2)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보안 · 접근성 관점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905295"/>
              </p:ext>
            </p:extLst>
          </p:nvPr>
        </p:nvGraphicFramePr>
        <p:xfrm>
          <a:off x="502920" y="1417320"/>
          <a:ext cx="8138160" cy="2944368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/ 구현 방향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목록 및 장애 이력 조회 시 빠른 응답 제공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1,000건 기준 2초 이내 응답을 목표로 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인증 및 권한에 따른 접근 제어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단방향 암호화, MASTER / DISPATCHER / ENGINEER 3단계 권한 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외 기능 접근 차단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화면뿐만 아니라 API 단에서도 권한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가용성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시간 동안 안정적인 서비스 제공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 이상 가동률을 목표로 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업무에 빠르게 접근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업무 기능은 3~4클릭 이내 접근 가능하도록 구성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환경에서도 사용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태블릿을 고려한 반응형 웹 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비기능 요구사항 (2/2)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 · 추적성 · 데이터 · 직무 분리 관점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44078"/>
              </p:ext>
            </p:extLst>
          </p:nvPr>
        </p:nvGraphicFramePr>
        <p:xfrm>
          <a:off x="502920" y="1417320"/>
          <a:ext cx="8138160" cy="2944368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/ 구현 방향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분류 및 상태 코드 확장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테이블 기반으로 관리하여 신규 코드 추가 시 프로그램 수정 최소화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데이터의 변경 이력 추적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등록자, 수정자, 삭제자 및 처리 일시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로그 보관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 보관을 기본 목표로 설정하고 필요에 따라 조정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무결성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처리 이력 보존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 데이터 물리 삭제 금지, 논리 삭제 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 분리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배정과 장애 처리 권한 분리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DISPATCHER는 배정, ENGINEER는 처리 담당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 분리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ENGINEER의 임의 업무 배정 방지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 API에 대한 서버 측 권한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MVP 범위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완성본 (MVP)</a:t>
            </a:r>
            <a:endParaRPr lang="en-US" sz="130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31920" cy="40233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(3역할 권한 분리)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7393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47088"/>
            <a:ext cx="3931920" cy="40233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47088"/>
            <a:ext cx="54864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18470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등록 / 조회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494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22576"/>
            <a:ext cx="3931920" cy="40233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22576"/>
            <a:ext cx="54864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23225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등록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72491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98064"/>
            <a:ext cx="3931920" cy="40233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98064"/>
            <a:ext cx="54864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7240" y="279806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배정 — DISPATCHER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20040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73552"/>
            <a:ext cx="3931920" cy="40233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73552"/>
            <a:ext cx="54864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77240" y="32735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처리 — ENGINEER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67588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3931920" cy="40233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4864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37490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이력 조회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완료 판정 기준</a:t>
            </a:r>
            <a:endParaRPr lang="en-US" sz="1300" dirty="0"/>
          </a:p>
        </p:txBody>
      </p:sp>
      <p:sp>
        <p:nvSpPr>
          <p:cNvPr id="3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371600"/>
            <a:ext cx="3931920" cy="6400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371600"/>
            <a:ext cx="54864" cy="64008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83480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3역할 권한 분리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83480" y="16642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· DISPATCHER · ENGINEER 계정으로 각각 로그인해 허용 화면만 노출</a:t>
            </a:r>
            <a:endParaRPr lang="en-US" sz="900" dirty="0"/>
          </a:p>
        </p:txBody>
      </p:sp>
      <p:sp>
        <p:nvSpPr>
          <p:cNvPr id="3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084832"/>
            <a:ext cx="3931920" cy="6400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084832"/>
            <a:ext cx="54864" cy="64008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983480" y="2139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건의 장애 완주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83480" y="23774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→ 배정 → 처리중 → 완료까지 상태가 끊기지 않고 전이</a:t>
            </a:r>
            <a:endParaRPr lang="en-US" sz="900" dirty="0"/>
          </a:p>
        </p:txBody>
      </p:sp>
      <p:sp>
        <p:nvSpPr>
          <p:cNvPr id="3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798064"/>
            <a:ext cx="3931920" cy="6400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798064"/>
            <a:ext cx="54864" cy="64008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983480" y="28529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 근거 확인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83480" y="30906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 화면에서 해당 장비의 과거 처리 이력과 담당자 조회</a:t>
            </a:r>
            <a:endParaRPr lang="en-US" sz="900" dirty="0"/>
          </a:p>
        </p:txBody>
      </p:sp>
      <p:sp>
        <p:nvSpPr>
          <p:cNvPr id="4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511296"/>
            <a:ext cx="3931920" cy="6400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511296"/>
            <a:ext cx="54864" cy="64008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983480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축적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83480" y="38039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완료된 장애의 원인 · 조치 · 처리자 · 일시가 이력으로 저장 · 조회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원칙: 모든 기능을 한 번에 만들지 않는다. 장애 처리 한 줄기를 끝까지 완성한 뒤 확장한다.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화면 목록 (1/2)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· 장비 영역  ·  화면과 기능 ID를 매핑한 요구사항 추적표(RTM), 개발 티켓은 기능 ID 단위로 발행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902519"/>
              </p:ext>
            </p:extLst>
          </p:nvPr>
        </p:nvGraphicFramePr>
        <p:xfrm>
          <a:off x="502920" y="1389888"/>
          <a:ext cx="8138160" cy="296265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구성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기능 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SC-001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아이디 · 비밀번호 입력, 로그인 버튼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SC-002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현황 카드, 장비 상태 요약, 최근 처리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FR-C-03, FR-C-04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SC-003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검색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검색창, 유형별 결과 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SC-004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정보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· 비밀번호 수정 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SC-101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검색창, 장비번호 · 장비명 · 분류 · 상태 그리드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FR-M-05, FR-D-01, FR-E-01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SC-102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등록/수정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기본정보 입력 폼, 분류 선택, 상태 선택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FR-M-04, FR-M-05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MASTER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SC-401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· 회사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목록, 권한 설정, 회사 정보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FR-M-01 ~ FR-M-03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MASTER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SC-402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정보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코드 · 장애 유형 · 상태 코드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FR-M-06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MASTER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화면 목록 (2/2)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· 배정 · 처리 영역  ·  화면과 기능 ID를 매핑한 요구사항 추적표(RTM), 개발 티켓은 기능 ID 단위로 발행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998877"/>
              </p:ext>
            </p:extLst>
          </p:nvPr>
        </p:nvGraphicFramePr>
        <p:xfrm>
          <a:off x="502920" y="1389888"/>
          <a:ext cx="8138160" cy="270662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구성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기능 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선택, 장애 유형 · 내용 · 발생일시 입력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ENGINEER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SC-210</a:t>
                      </a:r>
                      <a:endParaRPr lang="en-US" sz="90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상세</a:t>
                      </a:r>
                      <a:endParaRPr lang="en-US" sz="90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기본정보 · 장비정보 · 과거 이력 · 현재 상태 · 배정정보 · 처리내용 · 처리 이력</a:t>
                      </a:r>
                      <a:endParaRPr lang="en-US" sz="90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FR-D-02 ~ FR-D-07, FR-E-02 ~ FR-E-07</a:t>
                      </a:r>
                      <a:endParaRPr lang="en-US" sz="90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(3역할)</a:t>
                      </a:r>
                      <a:endParaRPr lang="en-US" sz="90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 목록, 과거 이력 패널, 엔지니어 · 우선순위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FR-D-03, FR-D-05, FR-D-06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DISPATCHER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엔지니어별 이력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엔지니어별 담당 장비 · 처리 이력 · 처리 건수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DISPATCHER · MASTER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SC-202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· 조치 · 처리 결과 입력, 상태 변경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FR-E-02 ~ FR-E-07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ENGINEER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완료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건 목록, 처리 내용 검토 · </a:t>
                      </a:r>
                      <a:r>
                        <a:rPr lang="ko-KR" alt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재처리 요청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FR-D-07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DISPATCHER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SC-203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이력 조회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· 장비 · 상태 필터, 이력 목록, </a:t>
                      </a:r>
                      <a:r>
                        <a:rPr lang="en-US" sz="9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</a:t>
                      </a: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권한에 따른 장애 이력 조회 범위 적용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FR-C-06, FR-M-07, FR-E-08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업무 흐름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처리 표준 프로세스</a:t>
            </a:r>
            <a:endParaRPr lang="en-US" sz="130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481328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4864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30936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18105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· 등록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21031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선택 · 증상 입력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접수</a:t>
            </a:r>
            <a:endParaRPr lang="en-US" sz="85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4248" y="196596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1463040"/>
            <a:ext cx="1481328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1463040"/>
            <a:ext cx="54864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86000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8105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확인</a:t>
            </a:r>
            <a:endParaRPr lang="en-US" sz="1050" dirty="0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0" y="21031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원인 · 처리자 조회</a:t>
            </a:r>
            <a:endParaRPr lang="en-US" sz="850" dirty="0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9312" y="196596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1463040"/>
            <a:ext cx="1481328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1463040"/>
            <a:ext cx="54864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41064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41064" y="18105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배정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41064" y="21031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· 우선순위 지정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94376" y="196596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463040"/>
            <a:ext cx="1481328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463040"/>
            <a:ext cx="54864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596128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6128" y="18105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처리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96128" y="21031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· 조치 입력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49440" y="196596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1463040"/>
            <a:ext cx="1481328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1463040"/>
            <a:ext cx="54864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251192" y="1536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51192" y="18105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· 완료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51192" y="2103120"/>
            <a:ext cx="12984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 검토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상태: 완료 · 이력 저장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3063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흐름 (반려 · 보류)</a:t>
            </a:r>
            <a:endParaRPr lang="en-US" sz="1300" dirty="0"/>
          </a:p>
        </p:txBody>
      </p:sp>
      <p:sp>
        <p:nvSpPr>
          <p:cNvPr id="3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1481328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4864" cy="9601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0936" y="3483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 검토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DISPATCHER 확인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84248" y="377647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4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3429000"/>
            <a:ext cx="1481328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3429000"/>
            <a:ext cx="54864" cy="9601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286000" y="3483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8600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 판정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286000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사유 입력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39312" y="377647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4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3429000"/>
            <a:ext cx="1481328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3429000"/>
            <a:ext cx="54864" cy="9601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3941064" y="3483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41064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재처리 요청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941064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엔지니어 재배정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94376" y="377647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5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3429000"/>
            <a:ext cx="1481328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3429000"/>
            <a:ext cx="54864" cy="9601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596128" y="3483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596128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 처리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596128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부품·일정 사유 기록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49440" y="3776472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6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3429000"/>
            <a:ext cx="1481328" cy="960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3429000"/>
            <a:ext cx="54864" cy="96012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7251192" y="3483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251192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축적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251192" y="3950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이력 저장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상태값 정의: 접수 → 배정 → 처리중 → 완료 / 보류 · 반려 · 취소는 예외 상태로 별도 관리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ERD 초안 — 엔티티 구조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필수 17개 기능을 담기 위한 최소 엔티티 집합</a:t>
            </a:r>
            <a:endParaRPr lang="en-US" sz="1050" dirty="0"/>
          </a:p>
        </p:txBody>
      </p:sp>
      <p:sp>
        <p:nvSpPr>
          <p:cNvPr id="6" name="Tex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정보 엔티티</a:t>
            </a:r>
            <a:endParaRPr lang="en-US" sz="1100" dirty="0"/>
          </a:p>
        </p:txBody>
      </p:sp>
      <p:sp>
        <p:nvSpPr>
          <p:cNvPr id="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18745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900" dirty="0"/>
          </a:p>
        </p:txBody>
      </p:sp>
      <p:sp>
        <p:nvSpPr>
          <p:cNvPr id="10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0320" y="1554480"/>
            <a:ext cx="18745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1760" y="16093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50" dirty="0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1760" y="1828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· 역할</a:t>
            </a:r>
            <a:endParaRPr lang="en-US" sz="900" dirty="0"/>
          </a:p>
        </p:txBody>
      </p:sp>
      <p:sp>
        <p:nvSpPr>
          <p:cNvPr id="13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554480"/>
            <a:ext cx="18745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16093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EQUIPMENT_CATEGORY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828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분류</a:t>
            </a:r>
            <a:endParaRPr lang="en-US" sz="900" dirty="0"/>
          </a:p>
        </p:txBody>
      </p:sp>
      <p:sp>
        <p:nvSpPr>
          <p:cNvPr id="1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0" y="1554480"/>
            <a:ext cx="18745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6093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COMMON_CODE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코드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286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엔티티 — 장애 처리 흐름</a:t>
            </a:r>
            <a:endParaRPr lang="en-US" sz="1100" dirty="0"/>
          </a:p>
        </p:txBody>
      </p:sp>
      <p:sp>
        <p:nvSpPr>
          <p:cNvPr id="2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137160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54864" cy="8686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0936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마스터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74520" y="2871216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37944" y="2615184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70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2560320"/>
            <a:ext cx="137160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7984" y="2560320"/>
            <a:ext cx="54864" cy="868680"/>
          </a:xfrm>
          <a:prstGeom prst="rect">
            <a:avLst/>
          </a:prstGeom>
          <a:solidFill>
            <a:srgbClr val="C77A0A"/>
          </a:solidFill>
          <a:ln w="12700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286000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접수 건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29584" y="2871216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7A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93008" y="2615184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700" dirty="0"/>
          </a:p>
        </p:txBody>
      </p:sp>
      <p:sp>
        <p:nvSpPr>
          <p:cNvPr id="3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2560320"/>
            <a:ext cx="137160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13048" y="2560320"/>
            <a:ext cx="54864" cy="86868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941064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41064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배정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84648" y="2871216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48072" y="2615184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700" dirty="0"/>
          </a:p>
        </p:txBody>
      </p:sp>
      <p:sp>
        <p:nvSpPr>
          <p:cNvPr id="3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2560320"/>
            <a:ext cx="137160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2560320"/>
            <a:ext cx="54864" cy="868680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596128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FAILURE_ACTION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96128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· 조치 · 결과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39712" y="2871216"/>
            <a:ext cx="283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03136" y="2615184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700" dirty="0"/>
          </a:p>
        </p:txBody>
      </p:sp>
      <p:sp>
        <p:nvSpPr>
          <p:cNvPr id="4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2560320"/>
            <a:ext cx="137160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3176" y="2560320"/>
            <a:ext cx="54864" cy="868680"/>
          </a:xfrm>
          <a:prstGeom prst="rect">
            <a:avLst/>
          </a:prstGeom>
          <a:solidFill>
            <a:srgbClr val="12283C"/>
          </a:solidFill>
          <a:ln w="12700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251192" y="2633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STATUS_HISTORY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51192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전이 이력</a:t>
            </a:r>
            <a:endParaRPr lang="en-US" sz="850" dirty="0"/>
          </a:p>
        </p:txBody>
      </p:sp>
      <p:sp>
        <p:nvSpPr>
          <p:cNvPr id="48" name="callout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8138160" cy="713232"/>
          </a:xfrm>
          <a:prstGeom prst="rect">
            <a:avLst/>
          </a:prstGeom>
          <a:solidFill>
            <a:srgbClr val="F4F6F9"/>
          </a:solidFill>
          <a:ln w="1587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31520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핵심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1520" y="38770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배정(ASSIGNMENT)을 장애와 분리한 별도 엔티티로 둔다 — 재배정 · 반려가 이력으로 남고, "이 장비를 과거에 누가 처리했는가"를 단일 조회로 얻을 수 있다.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4389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장비/사용자는 모두 COMPANY에 소속되며, 모든 이력 엔티티는 논리 삭제(soft delete)와 등록자 · 일시 컬럼을 공통으로 갖는다.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DB 설계 —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</a:t>
            </a:r>
            <a:r>
              <a:rPr lang="en-US" sz="2600" b="1" dirty="0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관계도</a:t>
            </a:r>
            <a:endParaRPr lang="en-US" sz="2600" dirty="0"/>
          </a:p>
        </p:txBody>
      </p:sp>
      <p:sp>
        <p:nvSpPr>
          <p:cNvPr id="3" name="section 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28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DBML 기준 12개 테이블 · 기준정보 · 장비 · 장애 · 시스템 4개 영역의 참조 관계</a:t>
            </a:r>
            <a:endParaRPr lang="en-US" sz="1050"/>
          </a:p>
        </p:txBody>
      </p:sp>
      <p:sp>
        <p:nvSpPr>
          <p:cNvPr id="201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335024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335024"/>
            <a:ext cx="2057400" cy="256032"/>
          </a:xfrm>
          <a:prstGeom prst="rect">
            <a:avLst/>
          </a:prstGeom>
          <a:solidFill>
            <a:srgbClr val="1E5FA8"/>
          </a:solidFill>
          <a:ln w="9525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Text 6"/>
          <p:cNvSpPr/>
          <p:nvPr/>
        </p:nvSpPr>
        <p:spPr>
          <a:xfrm>
            <a:off x="411480" y="13761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</a:t>
            </a:r>
            <a:endParaRPr lang="en-US" sz="750"/>
          </a:p>
        </p:txBody>
      </p:sp>
      <p:sp>
        <p:nvSpPr>
          <p:cNvPr id="204" name="Text 6"/>
          <p:cNvSpPr/>
          <p:nvPr/>
        </p:nvSpPr>
        <p:spPr>
          <a:xfrm>
            <a:off x="411480" y="1664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company_id (PK)</a:t>
            </a:r>
            <a:endParaRPr lang="en-US" sz="750"/>
          </a:p>
        </p:txBody>
      </p:sp>
      <p:sp>
        <p:nvSpPr>
          <p:cNvPr id="205" name="Text 6"/>
          <p:cNvSpPr/>
          <p:nvPr/>
        </p:nvSpPr>
        <p:spPr>
          <a:xfrm>
            <a:off x="411480" y="1901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 · biz_no (UQ)</a:t>
            </a:r>
            <a:endParaRPr lang="en-US" sz="650"/>
          </a:p>
        </p:txBody>
      </p:sp>
      <p:sp>
        <p:nvSpPr>
          <p:cNvPr id="20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313432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313432"/>
            <a:ext cx="2057400" cy="256032"/>
          </a:xfrm>
          <a:prstGeom prst="rect">
            <a:avLst/>
          </a:prstGeom>
          <a:solidFill>
            <a:srgbClr val="1E5FA8"/>
          </a:solidFill>
          <a:ln w="9525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Text 6"/>
          <p:cNvSpPr/>
          <p:nvPr/>
        </p:nvSpPr>
        <p:spPr>
          <a:xfrm>
            <a:off x="411480" y="23545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</a:t>
            </a:r>
            <a:endParaRPr lang="en-US" sz="750"/>
          </a:p>
        </p:txBody>
      </p:sp>
      <p:sp>
        <p:nvSpPr>
          <p:cNvPr id="209" name="Text 6"/>
          <p:cNvSpPr/>
          <p:nvPr/>
        </p:nvSpPr>
        <p:spPr>
          <a:xfrm>
            <a:off x="411480" y="2642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(PK)</a:t>
            </a:r>
            <a:endParaRPr lang="en-US" sz="750"/>
          </a:p>
        </p:txBody>
      </p:sp>
      <p:sp>
        <p:nvSpPr>
          <p:cNvPr id="210" name="Text 6"/>
          <p:cNvSpPr/>
          <p:nvPr/>
        </p:nvSpPr>
        <p:spPr>
          <a:xfrm>
            <a:off x="41148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company_id (FK) · login_id (UQ) · role</a:t>
            </a:r>
            <a:endParaRPr lang="en-US" sz="650"/>
          </a:p>
        </p:txBody>
      </p:sp>
      <p:sp>
        <p:nvSpPr>
          <p:cNvPr id="211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3291840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2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3291840"/>
            <a:ext cx="2057400" cy="256032"/>
          </a:xfrm>
          <a:prstGeom prst="rect">
            <a:avLst/>
          </a:prstGeom>
          <a:solidFill>
            <a:srgbClr val="1E5FA8"/>
          </a:solidFill>
          <a:ln w="9525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Text 6"/>
          <p:cNvSpPr/>
          <p:nvPr/>
        </p:nvSpPr>
        <p:spPr>
          <a:xfrm>
            <a:off x="411480" y="33329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COMMON_CODE</a:t>
            </a:r>
            <a:endParaRPr lang="en-US" sz="750"/>
          </a:p>
        </p:txBody>
      </p:sp>
      <p:sp>
        <p:nvSpPr>
          <p:cNvPr id="214" name="Text 6"/>
          <p:cNvSpPr/>
          <p:nvPr/>
        </p:nvSpPr>
        <p:spPr>
          <a:xfrm>
            <a:off x="411480" y="36210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code_id (PK)</a:t>
            </a:r>
            <a:endParaRPr lang="en-US" sz="750"/>
          </a:p>
        </p:txBody>
      </p:sp>
      <p:sp>
        <p:nvSpPr>
          <p:cNvPr id="215" name="Text 6"/>
          <p:cNvSpPr/>
          <p:nvPr/>
        </p:nvSpPr>
        <p:spPr>
          <a:xfrm>
            <a:off x="411480" y="3858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group_code + code (UQ)</a:t>
            </a:r>
            <a:endParaRPr lang="en-US" sz="650"/>
          </a:p>
        </p:txBody>
      </p:sp>
      <p:sp>
        <p:nvSpPr>
          <p:cNvPr id="21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8880" y="1335024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8880" y="1335024"/>
            <a:ext cx="2057400" cy="256032"/>
          </a:xfrm>
          <a:prstGeom prst="rect">
            <a:avLst/>
          </a:prstGeom>
          <a:solidFill>
            <a:srgbClr val="0E9BB5"/>
          </a:solidFill>
          <a:ln w="952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Text 6"/>
          <p:cNvSpPr/>
          <p:nvPr/>
        </p:nvSpPr>
        <p:spPr>
          <a:xfrm>
            <a:off x="2560320" y="13761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EQUIPMENT_CATEGORY</a:t>
            </a:r>
            <a:endParaRPr lang="en-US" sz="750"/>
          </a:p>
        </p:txBody>
      </p:sp>
      <p:sp>
        <p:nvSpPr>
          <p:cNvPr id="219" name="Text 6"/>
          <p:cNvSpPr/>
          <p:nvPr/>
        </p:nvSpPr>
        <p:spPr>
          <a:xfrm>
            <a:off x="2560320" y="1664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category_id (PK)</a:t>
            </a:r>
            <a:endParaRPr lang="en-US" sz="750"/>
          </a:p>
        </p:txBody>
      </p:sp>
      <p:sp>
        <p:nvSpPr>
          <p:cNvPr id="220" name="Text 6"/>
          <p:cNvSpPr/>
          <p:nvPr/>
        </p:nvSpPr>
        <p:spPr>
          <a:xfrm>
            <a:off x="2560320" y="1901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parent_id (FK · 자기 참조)</a:t>
            </a:r>
            <a:endParaRPr lang="en-US" sz="650"/>
          </a:p>
        </p:txBody>
      </p:sp>
      <p:sp>
        <p:nvSpPr>
          <p:cNvPr id="221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8880" y="2313432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8880" y="2313432"/>
            <a:ext cx="2057400" cy="256032"/>
          </a:xfrm>
          <a:prstGeom prst="rect">
            <a:avLst/>
          </a:prstGeom>
          <a:solidFill>
            <a:srgbClr val="0E9BB5"/>
          </a:solidFill>
          <a:ln w="952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6"/>
          <p:cNvSpPr/>
          <p:nvPr/>
        </p:nvSpPr>
        <p:spPr>
          <a:xfrm>
            <a:off x="2560320" y="23545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</a:t>
            </a:r>
            <a:endParaRPr lang="en-US" sz="750"/>
          </a:p>
        </p:txBody>
      </p:sp>
      <p:sp>
        <p:nvSpPr>
          <p:cNvPr id="224" name="Text 6"/>
          <p:cNvSpPr/>
          <p:nvPr/>
        </p:nvSpPr>
        <p:spPr>
          <a:xfrm>
            <a:off x="2560320" y="2642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equipment_id (PK)</a:t>
            </a:r>
            <a:endParaRPr lang="en-US" sz="750"/>
          </a:p>
        </p:txBody>
      </p:sp>
      <p:sp>
        <p:nvSpPr>
          <p:cNvPr id="225" name="Text 6"/>
          <p:cNvSpPr/>
          <p:nvPr/>
        </p:nvSpPr>
        <p:spPr>
          <a:xfrm>
            <a:off x="256032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company_id · category_id (FK)</a:t>
            </a:r>
            <a:endParaRPr lang="en-US" sz="650"/>
          </a:p>
        </p:txBody>
      </p:sp>
      <p:sp>
        <p:nvSpPr>
          <p:cNvPr id="22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8880" y="3291840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8880" y="3291840"/>
            <a:ext cx="2057400" cy="256032"/>
          </a:xfrm>
          <a:prstGeom prst="rect">
            <a:avLst/>
          </a:prstGeom>
          <a:solidFill>
            <a:srgbClr val="0E9BB5"/>
          </a:solidFill>
          <a:ln w="952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8" name="Text 6"/>
          <p:cNvSpPr/>
          <p:nvPr/>
        </p:nvSpPr>
        <p:spPr>
          <a:xfrm>
            <a:off x="2560320" y="33329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EQUIPMENT_MANAGER</a:t>
            </a:r>
            <a:endParaRPr lang="en-US" sz="750"/>
          </a:p>
        </p:txBody>
      </p:sp>
      <p:sp>
        <p:nvSpPr>
          <p:cNvPr id="229" name="Text 6"/>
          <p:cNvSpPr/>
          <p:nvPr/>
        </p:nvSpPr>
        <p:spPr>
          <a:xfrm>
            <a:off x="2560320" y="36210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manager_id (PK)</a:t>
            </a:r>
            <a:endParaRPr lang="en-US" sz="750"/>
          </a:p>
        </p:txBody>
      </p:sp>
      <p:sp>
        <p:nvSpPr>
          <p:cNvPr id="230" name="Text 6"/>
          <p:cNvSpPr/>
          <p:nvPr/>
        </p:nvSpPr>
        <p:spPr>
          <a:xfrm>
            <a:off x="2560320" y="3858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equipment_id · engineer_id (FK) · use_yn</a:t>
            </a:r>
            <a:endParaRPr lang="en-US" sz="650"/>
          </a:p>
        </p:txBody>
      </p:sp>
      <p:sp>
        <p:nvSpPr>
          <p:cNvPr id="231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335024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335024"/>
            <a:ext cx="2057400" cy="256032"/>
          </a:xfrm>
          <a:prstGeom prst="rect">
            <a:avLst/>
          </a:prstGeom>
          <a:solidFill>
            <a:srgbClr val="C77A0A"/>
          </a:solidFill>
          <a:ln w="9525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Text 6"/>
          <p:cNvSpPr/>
          <p:nvPr/>
        </p:nvSpPr>
        <p:spPr>
          <a:xfrm>
            <a:off x="4709160" y="13761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</a:t>
            </a:r>
            <a:endParaRPr lang="en-US" sz="750"/>
          </a:p>
        </p:txBody>
      </p:sp>
      <p:sp>
        <p:nvSpPr>
          <p:cNvPr id="234" name="Text 6"/>
          <p:cNvSpPr/>
          <p:nvPr/>
        </p:nvSpPr>
        <p:spPr>
          <a:xfrm>
            <a:off x="4709160" y="1664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failure_id (PK)</a:t>
            </a:r>
            <a:endParaRPr lang="en-US" sz="750"/>
          </a:p>
        </p:txBody>
      </p:sp>
      <p:sp>
        <p:nvSpPr>
          <p:cNvPr id="235" name="Text 6"/>
          <p:cNvSpPr/>
          <p:nvPr/>
        </p:nvSpPr>
        <p:spPr>
          <a:xfrm>
            <a:off x="4709160" y="1901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equipment_id · reporter_id (FK) · status</a:t>
            </a:r>
            <a:endParaRPr lang="en-US" sz="650"/>
          </a:p>
        </p:txBody>
      </p:sp>
      <p:sp>
        <p:nvSpPr>
          <p:cNvPr id="23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313432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313432"/>
            <a:ext cx="2057400" cy="256032"/>
          </a:xfrm>
          <a:prstGeom prst="rect">
            <a:avLst/>
          </a:prstGeom>
          <a:solidFill>
            <a:srgbClr val="0E9BB5"/>
          </a:solidFill>
          <a:ln w="952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Text 6"/>
          <p:cNvSpPr/>
          <p:nvPr/>
        </p:nvSpPr>
        <p:spPr>
          <a:xfrm>
            <a:off x="4709160" y="23545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</a:t>
            </a:r>
            <a:endParaRPr lang="en-US" sz="750"/>
          </a:p>
        </p:txBody>
      </p:sp>
      <p:sp>
        <p:nvSpPr>
          <p:cNvPr id="239" name="Text 6"/>
          <p:cNvSpPr/>
          <p:nvPr/>
        </p:nvSpPr>
        <p:spPr>
          <a:xfrm>
            <a:off x="4709160" y="2642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assign_id (PK)</a:t>
            </a:r>
            <a:endParaRPr lang="en-US" sz="750"/>
          </a:p>
        </p:txBody>
      </p:sp>
      <p:sp>
        <p:nvSpPr>
          <p:cNvPr id="240" name="Text 6"/>
          <p:cNvSpPr/>
          <p:nvPr/>
        </p:nvSpPr>
        <p:spPr>
          <a:xfrm>
            <a:off x="470916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failure_id · engineer_id · dispatcher_id (FK)</a:t>
            </a:r>
            <a:endParaRPr lang="en-US" sz="650"/>
          </a:p>
        </p:txBody>
      </p:sp>
      <p:sp>
        <p:nvSpPr>
          <p:cNvPr id="241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291840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291840"/>
            <a:ext cx="2057400" cy="256032"/>
          </a:xfrm>
          <a:prstGeom prst="rect">
            <a:avLst/>
          </a:prstGeom>
          <a:solidFill>
            <a:srgbClr val="0E9BB5"/>
          </a:solidFill>
          <a:ln w="952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3" name="Text 6"/>
          <p:cNvSpPr/>
          <p:nvPr/>
        </p:nvSpPr>
        <p:spPr>
          <a:xfrm>
            <a:off x="4709160" y="33329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FAILURE_ACTION</a:t>
            </a:r>
            <a:endParaRPr lang="en-US" sz="750"/>
          </a:p>
        </p:txBody>
      </p:sp>
      <p:sp>
        <p:nvSpPr>
          <p:cNvPr id="244" name="Text 6"/>
          <p:cNvSpPr/>
          <p:nvPr/>
        </p:nvSpPr>
        <p:spPr>
          <a:xfrm>
            <a:off x="4709160" y="36210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action_id (PK)</a:t>
            </a:r>
            <a:endParaRPr lang="en-US" sz="750"/>
          </a:p>
        </p:txBody>
      </p:sp>
      <p:sp>
        <p:nvSpPr>
          <p:cNvPr id="245" name="Text 6"/>
          <p:cNvSpPr/>
          <p:nvPr/>
        </p:nvSpPr>
        <p:spPr>
          <a:xfrm>
            <a:off x="4709160" y="3858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assign_id (FK) · cause · action · result</a:t>
            </a:r>
            <a:endParaRPr lang="en-US" sz="650"/>
          </a:p>
        </p:txBody>
      </p:sp>
      <p:sp>
        <p:nvSpPr>
          <p:cNvPr id="24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335024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335024"/>
            <a:ext cx="2057400" cy="256032"/>
          </a:xfrm>
          <a:prstGeom prst="rect">
            <a:avLst/>
          </a:prstGeom>
          <a:solidFill>
            <a:srgbClr val="C77A0A"/>
          </a:solidFill>
          <a:ln w="9525">
            <a:solidFill>
              <a:srgbClr val="C77A0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"/>
          <p:cNvSpPr/>
          <p:nvPr/>
        </p:nvSpPr>
        <p:spPr>
          <a:xfrm>
            <a:off x="6858000" y="13761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FAILURE_REVIEW</a:t>
            </a:r>
            <a:endParaRPr lang="en-US" sz="750"/>
          </a:p>
        </p:txBody>
      </p:sp>
      <p:sp>
        <p:nvSpPr>
          <p:cNvPr id="249" name="Text 6"/>
          <p:cNvSpPr/>
          <p:nvPr/>
        </p:nvSpPr>
        <p:spPr>
          <a:xfrm>
            <a:off x="6858000" y="16642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review_id (PK)</a:t>
            </a:r>
            <a:endParaRPr lang="en-US" sz="750"/>
          </a:p>
        </p:txBody>
      </p:sp>
      <p:sp>
        <p:nvSpPr>
          <p:cNvPr id="250" name="Text 6"/>
          <p:cNvSpPr/>
          <p:nvPr/>
        </p:nvSpPr>
        <p:spPr>
          <a:xfrm>
            <a:off x="6858000" y="1901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failure_id · reviewer_id (FK) · review_result</a:t>
            </a:r>
            <a:endParaRPr lang="en-US" sz="650"/>
          </a:p>
        </p:txBody>
      </p:sp>
      <p:sp>
        <p:nvSpPr>
          <p:cNvPr id="251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2313432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2313432"/>
            <a:ext cx="2057400" cy="256032"/>
          </a:xfrm>
          <a:prstGeom prst="rect">
            <a:avLst/>
          </a:prstGeom>
          <a:solidFill>
            <a:srgbClr val="12283C"/>
          </a:solidFill>
          <a:ln w="9525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3" name="Text 6"/>
          <p:cNvSpPr/>
          <p:nvPr/>
        </p:nvSpPr>
        <p:spPr>
          <a:xfrm>
            <a:off x="6858000" y="23545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STATUS_HISTORY</a:t>
            </a:r>
            <a:endParaRPr lang="en-US" sz="750"/>
          </a:p>
        </p:txBody>
      </p:sp>
      <p:sp>
        <p:nvSpPr>
          <p:cNvPr id="254" name="Text 6"/>
          <p:cNvSpPr/>
          <p:nvPr/>
        </p:nvSpPr>
        <p:spPr>
          <a:xfrm>
            <a:off x="6858000" y="26426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history_id (PK)</a:t>
            </a:r>
            <a:endParaRPr lang="en-US" sz="750"/>
          </a:p>
        </p:txBody>
      </p:sp>
      <p:sp>
        <p:nvSpPr>
          <p:cNvPr id="255" name="Text 6"/>
          <p:cNvSpPr/>
          <p:nvPr/>
        </p:nvSpPr>
        <p:spPr>
          <a:xfrm>
            <a:off x="685800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failure_id · changed_by (FK) · to_status</a:t>
            </a:r>
            <a:endParaRPr lang="en-US" sz="650"/>
          </a:p>
        </p:txBody>
      </p:sp>
      <p:sp>
        <p:nvSpPr>
          <p:cNvPr id="256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3291840"/>
            <a:ext cx="205740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7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3291840"/>
            <a:ext cx="2057400" cy="256032"/>
          </a:xfrm>
          <a:prstGeom prst="rect">
            <a:avLst/>
          </a:prstGeom>
          <a:solidFill>
            <a:srgbClr val="12283C"/>
          </a:solidFill>
          <a:ln w="9525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8" name="Text 6"/>
          <p:cNvSpPr/>
          <p:nvPr/>
        </p:nvSpPr>
        <p:spPr>
          <a:xfrm>
            <a:off x="6858000" y="33329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AUDIT_LOG</a:t>
            </a:r>
            <a:endParaRPr lang="en-US" sz="750"/>
          </a:p>
        </p:txBody>
      </p:sp>
      <p:sp>
        <p:nvSpPr>
          <p:cNvPr id="259" name="Text 6"/>
          <p:cNvSpPr/>
          <p:nvPr/>
        </p:nvSpPr>
        <p:spPr>
          <a:xfrm>
            <a:off x="6858000" y="36210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audit_id (PK)</a:t>
            </a:r>
            <a:endParaRPr lang="en-US" sz="750"/>
          </a:p>
        </p:txBody>
      </p:sp>
      <p:sp>
        <p:nvSpPr>
          <p:cNvPr id="260" name="Text 6"/>
          <p:cNvSpPr/>
          <p:nvPr/>
        </p:nvSpPr>
        <p:spPr>
          <a:xfrm>
            <a:off x="6858000" y="38587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user_id (FK) · action_type · table_name</a:t>
            </a:r>
            <a:endParaRPr lang="en-US" sz="650"/>
          </a:p>
        </p:txBody>
      </p:sp>
      <p:sp>
        <p:nvSpPr>
          <p:cNvPr id="261" name="Text 6"/>
          <p:cNvSpPr/>
          <p:nvPr/>
        </p:nvSpPr>
        <p:spPr>
          <a:xfrm>
            <a:off x="822960" y="220827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/>
          </a:p>
        </p:txBody>
      </p:sp>
      <p:sp>
        <p:nvSpPr>
          <p:cNvPr id="262" name="Text 6"/>
          <p:cNvSpPr/>
          <p:nvPr/>
        </p:nvSpPr>
        <p:spPr>
          <a:xfrm>
            <a:off x="1097280" y="21899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650"/>
          </a:p>
        </p:txBody>
      </p:sp>
      <p:sp>
        <p:nvSpPr>
          <p:cNvPr id="263" name="Text 6"/>
          <p:cNvSpPr/>
          <p:nvPr/>
        </p:nvSpPr>
        <p:spPr>
          <a:xfrm>
            <a:off x="2971800" y="220827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/>
          </a:p>
        </p:txBody>
      </p:sp>
      <p:sp>
        <p:nvSpPr>
          <p:cNvPr id="264" name="Text 6"/>
          <p:cNvSpPr/>
          <p:nvPr/>
        </p:nvSpPr>
        <p:spPr>
          <a:xfrm>
            <a:off x="3246120" y="21899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650"/>
          </a:p>
        </p:txBody>
      </p:sp>
      <p:sp>
        <p:nvSpPr>
          <p:cNvPr id="265" name="Text 6"/>
          <p:cNvSpPr/>
          <p:nvPr/>
        </p:nvSpPr>
        <p:spPr>
          <a:xfrm>
            <a:off x="2971800" y="318668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/>
          </a:p>
        </p:txBody>
      </p:sp>
      <p:sp>
        <p:nvSpPr>
          <p:cNvPr id="266" name="Text 6"/>
          <p:cNvSpPr/>
          <p:nvPr/>
        </p:nvSpPr>
        <p:spPr>
          <a:xfrm>
            <a:off x="3246120" y="316839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650"/>
          </a:p>
        </p:txBody>
      </p:sp>
      <p:sp>
        <p:nvSpPr>
          <p:cNvPr id="267" name="Text 6"/>
          <p:cNvSpPr/>
          <p:nvPr/>
        </p:nvSpPr>
        <p:spPr>
          <a:xfrm>
            <a:off x="5120640" y="220827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/>
          </a:p>
        </p:txBody>
      </p:sp>
      <p:sp>
        <p:nvSpPr>
          <p:cNvPr id="268" name="Text 6"/>
          <p:cNvSpPr/>
          <p:nvPr/>
        </p:nvSpPr>
        <p:spPr>
          <a:xfrm>
            <a:off x="5394960" y="21899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650"/>
          </a:p>
        </p:txBody>
      </p:sp>
      <p:sp>
        <p:nvSpPr>
          <p:cNvPr id="269" name="Text 6"/>
          <p:cNvSpPr/>
          <p:nvPr/>
        </p:nvSpPr>
        <p:spPr>
          <a:xfrm>
            <a:off x="5120640" y="318668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800"/>
          </a:p>
        </p:txBody>
      </p:sp>
      <p:sp>
        <p:nvSpPr>
          <p:cNvPr id="270" name="Text 6"/>
          <p:cNvSpPr/>
          <p:nvPr/>
        </p:nvSpPr>
        <p:spPr>
          <a:xfrm>
            <a:off x="5394960" y="316839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</a:t>
            </a:r>
            <a:endParaRPr lang="en-US" sz="650"/>
          </a:p>
        </p:txBody>
      </p:sp>
      <p:sp>
        <p:nvSpPr>
          <p:cNvPr id="273" name="entity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4279392"/>
            <a:ext cx="8503920" cy="310896"/>
          </a:xfrm>
          <a:prstGeom prst="rect">
            <a:avLst/>
          </a:prstGeom>
          <a:solidFill>
            <a:srgbClr val="F4F6F9"/>
          </a:solidFill>
          <a:ln w="15875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" name="Text 6"/>
          <p:cNvSpPr/>
          <p:nvPr/>
        </p:nvSpPr>
        <p:spPr>
          <a:xfrm>
            <a:off x="457200" y="43616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0E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FK</a:t>
            </a:r>
            <a:endParaRPr lang="en-US" sz="750"/>
          </a:p>
        </p:txBody>
      </p:sp>
      <p:sp>
        <p:nvSpPr>
          <p:cNvPr id="275" name="Text 6"/>
          <p:cNvSpPr/>
          <p:nvPr/>
        </p:nvSpPr>
        <p:spPr>
          <a:xfrm>
            <a:off x="1234440" y="436168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→ EQUIPMENT · EQUIPMENT → FAILURE · FAILURE → FAILURE_REVIEW · USERS → FAILURE / ASSIGNMENT / EQUIPMENT_MANAGER / FAILURE_REVIEW / STATUS_HISTORY / AUDIT_LOG</a:t>
            </a:r>
            <a:endParaRPr lang="en-US"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A8E81-25D7-4243-B690-BB7A76200225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en-US"/>
              <a:t>11. 시스템 아키텍처</a:t>
            </a:r>
          </a:p>
        </p:txBody>
      </p:sp>
      <p:sp>
        <p:nvSpPr>
          <p:cNvPr id="401" name="box"/>
          <p:cNvSpPr/>
          <p:nvPr/>
        </p:nvSpPr>
        <p:spPr>
          <a:xfrm>
            <a:off x="502920" y="1120000"/>
            <a:ext cx="2250000" cy="440000"/>
          </a:xfrm>
          <a:prstGeom prst="rect">
            <a:avLst/>
          </a:prstGeom>
          <a:solidFill>
            <a:srgbClr val="E8EEF6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2" name="Text 402"/>
          <p:cNvSpPr/>
          <p:nvPr/>
        </p:nvSpPr>
        <p:spPr>
          <a:xfrm>
            <a:off x="652920" y="1195000"/>
            <a:ext cx="1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</a:p>
          <a:p>
            <a:pPr marL="0" indent="0"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ko-KR" altLang="en-US" sz="7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/ Swagger / Postman</a:t>
            </a:r>
          </a:p>
        </p:txBody>
      </p:sp>
      <p:sp>
        <p:nvSpPr>
          <p:cNvPr id="403" name="arrow"/>
          <p:cNvSpPr/>
          <p:nvPr/>
        </p:nvSpPr>
        <p:spPr>
          <a:xfrm>
            <a:off x="1567920" y="1575000"/>
            <a:ext cx="120000" cy="90000"/>
          </a:xfrm>
          <a:prstGeom prst="downArrow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4" name="Text 404"/>
          <p:cNvSpPr/>
          <p:nvPr/>
        </p:nvSpPr>
        <p:spPr>
          <a:xfrm>
            <a:off x="3012920" y="1120000"/>
            <a:ext cx="2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UI 및 Swagger·Postman을 통한 API 요청</a:t>
            </a:r>
          </a:p>
        </p:txBody>
      </p:sp>
      <p:sp>
        <p:nvSpPr>
          <p:cNvPr id="405" name="box"/>
          <p:cNvSpPr/>
          <p:nvPr/>
        </p:nvSpPr>
        <p:spPr>
          <a:xfrm>
            <a:off x="502920" y="1680000"/>
            <a:ext cx="2250000" cy="44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6" name="Text 406"/>
          <p:cNvSpPr/>
          <p:nvPr/>
        </p:nvSpPr>
        <p:spPr>
          <a:xfrm>
            <a:off x="652920" y="1755000"/>
            <a:ext cx="1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</a:t>
            </a:r>
          </a:p>
          <a:p>
            <a:pPr marL="0" indent="0"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ko-KR" altLang="en-US" sz="7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</a:p>
        </p:txBody>
      </p:sp>
      <p:sp>
        <p:nvSpPr>
          <p:cNvPr id="407" name="arrow"/>
          <p:cNvSpPr/>
          <p:nvPr/>
        </p:nvSpPr>
        <p:spPr>
          <a:xfrm>
            <a:off x="1567920" y="2135000"/>
            <a:ext cx="120000" cy="90000"/>
          </a:xfrm>
          <a:prstGeom prst="downArrow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8" name="Text 408"/>
          <p:cNvSpPr/>
          <p:nvPr/>
        </p:nvSpPr>
        <p:spPr>
          <a:xfrm>
            <a:off x="3012920" y="1680000"/>
            <a:ext cx="2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 및 응답 처리</a:t>
            </a:r>
          </a:p>
        </p:txBody>
      </p:sp>
      <p:sp>
        <p:nvSpPr>
          <p:cNvPr id="409" name="box"/>
          <p:cNvSpPr/>
          <p:nvPr/>
        </p:nvSpPr>
        <p:spPr>
          <a:xfrm>
            <a:off x="502920" y="2240000"/>
            <a:ext cx="2250000" cy="44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0" name="Text 410"/>
          <p:cNvSpPr/>
          <p:nvPr/>
        </p:nvSpPr>
        <p:spPr>
          <a:xfrm>
            <a:off x="652920" y="2315000"/>
            <a:ext cx="1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</a:p>
          <a:p>
            <a:pPr marL="0" indent="0"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ko-KR" altLang="en-US" sz="7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</a:p>
        </p:txBody>
      </p:sp>
      <p:sp>
        <p:nvSpPr>
          <p:cNvPr id="411" name="arrow"/>
          <p:cNvSpPr/>
          <p:nvPr/>
        </p:nvSpPr>
        <p:spPr>
          <a:xfrm>
            <a:off x="1567920" y="2695000"/>
            <a:ext cx="120000" cy="90000"/>
          </a:xfrm>
          <a:prstGeom prst="downArrow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2" name="Text 412"/>
          <p:cNvSpPr/>
          <p:nvPr/>
        </p:nvSpPr>
        <p:spPr>
          <a:xfrm>
            <a:off x="3012920" y="2240000"/>
            <a:ext cx="2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관련 비즈니스 로직 처리</a:t>
            </a:r>
          </a:p>
        </p:txBody>
      </p:sp>
      <p:sp>
        <p:nvSpPr>
          <p:cNvPr id="413" name="box"/>
          <p:cNvSpPr/>
          <p:nvPr/>
        </p:nvSpPr>
        <p:spPr>
          <a:xfrm>
            <a:off x="502920" y="2800000"/>
            <a:ext cx="2250000" cy="44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4" name="Text 414"/>
          <p:cNvSpPr/>
          <p:nvPr/>
        </p:nvSpPr>
        <p:spPr>
          <a:xfrm>
            <a:off x="652920" y="2875000"/>
            <a:ext cx="1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</a:t>
            </a:r>
          </a:p>
          <a:p>
            <a:pPr marL="0" indent="0"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ko-KR" altLang="en-US" sz="7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</a:p>
        </p:txBody>
      </p:sp>
      <p:sp>
        <p:nvSpPr>
          <p:cNvPr id="415" name="arrow"/>
          <p:cNvSpPr/>
          <p:nvPr/>
        </p:nvSpPr>
        <p:spPr>
          <a:xfrm>
            <a:off x="1567920" y="3255000"/>
            <a:ext cx="120000" cy="90000"/>
          </a:xfrm>
          <a:prstGeom prst="downArrow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6" name="Text 416"/>
          <p:cNvSpPr/>
          <p:nvPr/>
        </p:nvSpPr>
        <p:spPr>
          <a:xfrm>
            <a:off x="3012920" y="2800000"/>
            <a:ext cx="2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JPA를 통한 데이터 접근</a:t>
            </a:r>
          </a:p>
        </p:txBody>
      </p:sp>
      <p:sp>
        <p:nvSpPr>
          <p:cNvPr id="417" name="box"/>
          <p:cNvSpPr/>
          <p:nvPr/>
        </p:nvSpPr>
        <p:spPr>
          <a:xfrm>
            <a:off x="502920" y="3360000"/>
            <a:ext cx="2250000" cy="440000"/>
          </a:xfrm>
          <a:prstGeom prst="rect">
            <a:avLst/>
          </a:prstGeom>
          <a:solidFill>
            <a:srgbClr val="E8EEF6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8" name="Text 418"/>
          <p:cNvSpPr/>
          <p:nvPr/>
        </p:nvSpPr>
        <p:spPr>
          <a:xfrm>
            <a:off x="652920" y="3435000"/>
            <a:ext cx="19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</a:p>
          <a:p>
            <a:pPr marL="0" indent="0" algn="l">
              <a:lnSpc>
                <a:spcPct val="100000"/>
              </a:lnSpc>
              <a:spcBef>
                <a:spcPts val="150"/>
              </a:spcBef>
              <a:buNone/>
            </a:pPr>
            <a:r>
              <a:rPr lang="ko-KR" altLang="en-US" sz="75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</a:t>
            </a:r>
          </a:p>
        </p:txBody>
      </p:sp>
      <p:sp>
        <p:nvSpPr>
          <p:cNvPr id="419" name="Text 419"/>
          <p:cNvSpPr/>
          <p:nvPr/>
        </p:nvSpPr>
        <p:spPr>
          <a:xfrm>
            <a:off x="3012920" y="3360000"/>
            <a:ext cx="2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데이터 저장 및 관리</a:t>
            </a:r>
          </a:p>
        </p:txBody>
      </p:sp>
      <p:sp>
        <p:nvSpPr>
          <p:cNvPr id="420" name="box"/>
          <p:cNvSpPr/>
          <p:nvPr/>
        </p:nvSpPr>
        <p:spPr>
          <a:xfrm>
            <a:off x="6100000" y="1120000"/>
            <a:ext cx="2541080" cy="26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1" name="box"/>
          <p:cNvSpPr/>
          <p:nvPr/>
        </p:nvSpPr>
        <p:spPr>
          <a:xfrm>
            <a:off x="6100000" y="1120000"/>
            <a:ext cx="54864" cy="268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2" name="Text 422"/>
          <p:cNvSpPr/>
          <p:nvPr/>
        </p:nvSpPr>
        <p:spPr>
          <a:xfrm>
            <a:off x="6340000" y="1300000"/>
            <a:ext cx="2121080" cy="2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</a:p>
          <a:p>
            <a:pPr marL="0" indent="0" algn="l">
              <a:lnSpc>
                <a:spcPct val="100000"/>
              </a:lnSpc>
              <a:spcBef>
                <a:spcPts val="350"/>
              </a:spcBef>
              <a:buNone/>
            </a:pPr>
            <a:r>
              <a:rPr lang="ko-KR" altLang="en-US" sz="8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</a:p>
          <a:p>
            <a:pPr marL="0" indent="0" algn="l">
              <a:lnSpc>
                <a:spcPct val="100000"/>
              </a:lnSpc>
              <a:spcBef>
                <a:spcPts val="60"/>
              </a:spcBef>
              <a:buNone/>
            </a:pPr>
            <a:r>
              <a:rPr lang="ko-KR" altLang="en-US" sz="7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4.1 · Spring Data JPA · Hibernate</a:t>
            </a:r>
          </a:p>
          <a:p>
            <a:pPr marL="0" indent="0" algn="l">
              <a:lnSpc>
                <a:spcPct val="100000"/>
              </a:lnSpc>
              <a:spcBef>
                <a:spcPts val="250"/>
              </a:spcBef>
              <a:buNone/>
            </a:pPr>
            <a:r>
              <a:rPr lang="ko-KR" altLang="en-US" sz="8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</a:p>
          <a:p>
            <a:pPr marL="0" indent="0" algn="l">
              <a:lnSpc>
                <a:spcPct val="100000"/>
              </a:lnSpc>
              <a:spcBef>
                <a:spcPts val="60"/>
              </a:spcBef>
              <a:buNone/>
            </a:pPr>
            <a:r>
              <a:rPr lang="ko-KR" altLang="en-US" sz="7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Database</a:t>
            </a:r>
          </a:p>
          <a:p>
            <a:pPr marL="0" indent="0" algn="l">
              <a:lnSpc>
                <a:spcPct val="100000"/>
              </a:lnSpc>
              <a:spcBef>
                <a:spcPts val="250"/>
              </a:spcBef>
              <a:buNone/>
            </a:pPr>
            <a:r>
              <a:rPr lang="ko-KR" altLang="en-US" sz="8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/ Auth</a:t>
            </a:r>
          </a:p>
          <a:p>
            <a:pPr marL="0" indent="0" algn="l">
              <a:lnSpc>
                <a:spcPct val="100000"/>
              </a:lnSpc>
              <a:spcBef>
                <a:spcPts val="60"/>
              </a:spcBef>
              <a:buNone/>
            </a:pPr>
            <a:r>
              <a:rPr lang="ko-KR" altLang="en-US" sz="7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Security</a:t>
            </a:r>
          </a:p>
          <a:p>
            <a:pPr marL="0" indent="0" algn="l">
              <a:lnSpc>
                <a:spcPct val="100000"/>
              </a:lnSpc>
              <a:spcBef>
                <a:spcPts val="250"/>
              </a:spcBef>
              <a:buNone/>
            </a:pPr>
            <a:r>
              <a:rPr lang="ko-KR" altLang="en-US" sz="8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/ API</a:t>
            </a:r>
          </a:p>
          <a:p>
            <a:pPr marL="0" indent="0" algn="l">
              <a:lnSpc>
                <a:spcPct val="100000"/>
              </a:lnSpc>
              <a:spcBef>
                <a:spcPts val="60"/>
              </a:spcBef>
              <a:buNone/>
            </a:pPr>
            <a:r>
              <a:rPr lang="ko-KR" altLang="en-US" sz="7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JUnit · MockMvc · Swagger</a:t>
            </a:r>
          </a:p>
        </p:txBody>
      </p:sp>
      <p:sp>
        <p:nvSpPr>
          <p:cNvPr id="423" name="box"/>
          <p:cNvSpPr/>
          <p:nvPr/>
        </p:nvSpPr>
        <p:spPr>
          <a:xfrm>
            <a:off x="502920" y="3980000"/>
            <a:ext cx="8138160" cy="43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4" name="Text 424"/>
          <p:cNvSpPr/>
          <p:nvPr/>
        </p:nvSpPr>
        <p:spPr>
          <a:xfrm>
            <a:off x="702920" y="3980000"/>
            <a:ext cx="77381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계층별 역할을 분리하여 유지보수성과 테스트 용이성을 높였습니다. — MVC 기반 Layered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73536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D2CD0-233B-4588-48D4-A083FDC07EA8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altLang="ko-KR"/>
              <a:t>12-1. </a:t>
            </a:r>
            <a:r>
              <a:rPr lang="en-US" altLang="ko-KR" dirty="0"/>
              <a:t>Swagger </a:t>
            </a:r>
            <a:r>
              <a:rPr lang="en-US" altLang="ko-KR"/>
              <a:t>테스트 — 장비 등록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F3A971-C052-6C2D-AD20-A0E289A57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831" y="1180000"/>
            <a:ext cx="2129257" cy="318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CE8138-EACD-74CF-345A-C03441E20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574" y="1180000"/>
            <a:ext cx="2187932" cy="3180000"/>
          </a:xfrm>
          <a:prstGeom prst="rect">
            <a:avLst/>
          </a:prstGeom>
        </p:spPr>
      </p:pic>
      <p:sp>
        <p:nvSpPr>
          <p:cNvPr id="500" name="caption 500"/>
          <p:cNvSpPr/>
          <p:nvPr/>
        </p:nvSpPr>
        <p:spPr>
          <a:xfrm>
            <a:off x="502920" y="4440000"/>
            <a:ext cx="391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(Request)</a:t>
            </a:r>
            <a:endParaRPr lang="ko-KR" altLang="en-US" sz="1000"/>
          </a:p>
        </p:txBody>
      </p:sp>
      <p:sp>
        <p:nvSpPr>
          <p:cNvPr id="501" name="caption 501"/>
          <p:cNvSpPr/>
          <p:nvPr/>
        </p:nvSpPr>
        <p:spPr>
          <a:xfrm>
            <a:off x="4722000" y="4440000"/>
            <a:ext cx="391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(Response)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218529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1427F3-3A14-294D-4E57-A0F08087FD42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altLang="ko-KR"/>
              <a:t>12-2. </a:t>
            </a:r>
            <a:r>
              <a:rPr lang="en-US" altLang="ko-KR" dirty="0"/>
              <a:t>Swagger </a:t>
            </a:r>
            <a:r>
              <a:rPr lang="en-US" altLang="ko-KR"/>
              <a:t>테스트 — 장비 조회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EF90CE-7928-FE2B-47B9-C9DD1AC9D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57" y="1180000"/>
            <a:ext cx="2921606" cy="318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8E914F-C80D-475A-ED48-18735D38E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00" y="1500965"/>
            <a:ext cx="3919080" cy="2538070"/>
          </a:xfrm>
          <a:prstGeom prst="rect">
            <a:avLst/>
          </a:prstGeom>
        </p:spPr>
      </p:pic>
      <p:sp>
        <p:nvSpPr>
          <p:cNvPr id="500" name="caption 500"/>
          <p:cNvSpPr/>
          <p:nvPr/>
        </p:nvSpPr>
        <p:spPr>
          <a:xfrm>
            <a:off x="502920" y="4440000"/>
            <a:ext cx="391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(Request)</a:t>
            </a:r>
            <a:endParaRPr lang="ko-KR" altLang="en-US" sz="1000"/>
          </a:p>
        </p:txBody>
      </p:sp>
      <p:sp>
        <p:nvSpPr>
          <p:cNvPr id="501" name="caption 501"/>
          <p:cNvSpPr/>
          <p:nvPr/>
        </p:nvSpPr>
        <p:spPr>
          <a:xfrm>
            <a:off x="4722000" y="4440000"/>
            <a:ext cx="391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(Response)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400437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D6A59-1994-83D7-C58A-F4A0C030390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altLang="ko-KR"/>
              <a:t>12-3. </a:t>
            </a:r>
            <a:r>
              <a:rPr lang="en-US" altLang="ko-KR" dirty="0"/>
              <a:t>Swagger </a:t>
            </a:r>
            <a:r>
              <a:rPr lang="en-US" altLang="ko-KR"/>
              <a:t>테스트 — 장비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AFF40C-457C-D4F4-1F16-15A048710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37" y="1180000"/>
            <a:ext cx="3470645" cy="318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2D740F-4AE4-2C77-BBA7-536EAB097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099" y="1180000"/>
            <a:ext cx="3532882" cy="3180000"/>
          </a:xfrm>
          <a:prstGeom prst="rect">
            <a:avLst/>
          </a:prstGeom>
        </p:spPr>
      </p:pic>
      <p:sp>
        <p:nvSpPr>
          <p:cNvPr id="500" name="caption 500"/>
          <p:cNvSpPr/>
          <p:nvPr/>
        </p:nvSpPr>
        <p:spPr>
          <a:xfrm>
            <a:off x="502920" y="4440000"/>
            <a:ext cx="391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(Request)</a:t>
            </a:r>
            <a:endParaRPr lang="ko-KR" altLang="en-US" sz="1000"/>
          </a:p>
        </p:txBody>
      </p:sp>
      <p:sp>
        <p:nvSpPr>
          <p:cNvPr id="501" name="caption 501"/>
          <p:cNvSpPr/>
          <p:nvPr/>
        </p:nvSpPr>
        <p:spPr>
          <a:xfrm>
            <a:off x="4722000" y="4440000"/>
            <a:ext cx="391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(Response)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87427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1209E-42EC-33CB-23A8-D8D16867FD7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altLang="ko-KR"/>
              <a:t>12-4. </a:t>
            </a:r>
            <a:r>
              <a:rPr lang="en-US" altLang="ko-KR" dirty="0"/>
              <a:t>Swagger </a:t>
            </a:r>
            <a:r>
              <a:rPr lang="en-US" altLang="ko-KR"/>
              <a:t>테스트 — 장비 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CD7B78-08B6-5D39-FCCB-6666369E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926" y="1180000"/>
            <a:ext cx="2242148" cy="3180000"/>
          </a:xfrm>
          <a:prstGeom prst="rect">
            <a:avLst/>
          </a:prstGeom>
        </p:spPr>
      </p:pic>
      <p:sp>
        <p:nvSpPr>
          <p:cNvPr id="500" name="caption 500"/>
          <p:cNvSpPr/>
          <p:nvPr/>
        </p:nvSpPr>
        <p:spPr>
          <a:xfrm>
            <a:off x="1524000" y="4440000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요청 및 응답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783280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1515-38E9-1CCC-5F6F-225FE58E206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en-US"/>
              <a:t>13. 예외 처리 및</a:t>
            </a:r>
            <a:r>
              <a:rPr lang="ko-KR" altLang="en-US" dirty="0"/>
              <a:t> 검증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1CD570-2B79-2FCF-1DF3-49BE32E4B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81" y="1330000"/>
            <a:ext cx="2536878" cy="260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2E40B4D-6035-2BC3-C31B-F98814DFD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543" y="1330000"/>
            <a:ext cx="3925994" cy="108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054FA9-DC09-EE4C-F1EE-739BDE137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512" y="2790000"/>
            <a:ext cx="3854056" cy="1140000"/>
          </a:xfrm>
          <a:prstGeom prst="rect">
            <a:avLst/>
          </a:prstGeom>
        </p:spPr>
      </p:pic>
      <p:sp>
        <p:nvSpPr>
          <p:cNvPr id="601" name="Text 601"/>
          <p:cNvSpPr/>
          <p:nvPr/>
        </p:nvSpPr>
        <p:spPr>
          <a:xfrm>
            <a:off x="502920" y="1090000"/>
            <a:ext cx="3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9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GlobalExceptionHandler — 전역 예외 처리 (HTTP 404 응답)</a:t>
            </a:r>
          </a:p>
        </p:txBody>
      </p:sp>
      <p:sp>
        <p:nvSpPr>
          <p:cNvPr id="602" name="Text 602"/>
          <p:cNvSpPr/>
          <p:nvPr/>
        </p:nvSpPr>
        <p:spPr>
          <a:xfrm>
            <a:off x="4620000" y="1090000"/>
            <a:ext cx="4021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9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EquipmentControllerTest — GET /equipments/999 · 404 검증</a:t>
            </a:r>
          </a:p>
        </p:txBody>
      </p:sp>
      <p:sp>
        <p:nvSpPr>
          <p:cNvPr id="603" name="Text 603"/>
          <p:cNvSpPr/>
          <p:nvPr/>
        </p:nvSpPr>
        <p:spPr>
          <a:xfrm>
            <a:off x="4620000" y="2550000"/>
            <a:ext cx="4021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9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EquipmentService — 조회 실패 시 EquipmentNotFoundException 발생</a:t>
            </a:r>
          </a:p>
        </p:txBody>
      </p:sp>
      <p:sp>
        <p:nvSpPr>
          <p:cNvPr id="604" name="bar"/>
          <p:cNvSpPr/>
          <p:nvPr/>
        </p:nvSpPr>
        <p:spPr>
          <a:xfrm>
            <a:off x="502920" y="4030000"/>
            <a:ext cx="8138160" cy="43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5" name="Text 605"/>
          <p:cNvSpPr/>
          <p:nvPr/>
        </p:nvSpPr>
        <p:spPr>
          <a:xfrm>
            <a:off x="702920" y="4030000"/>
            <a:ext cx="77381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/equipments/999  →  404 Not Found · “장비를 찾을 수 없습니다.” — 전역 예외 처리로 일관된 오류 응답을 반환합니다.</a:t>
            </a:r>
          </a:p>
        </p:txBody>
      </p:sp>
    </p:spTree>
    <p:extLst>
      <p:ext uri="{BB962C8B-B14F-4D97-AF65-F5344CB8AC3E}">
        <p14:creationId xmlns:p14="http://schemas.microsoft.com/office/powerpoint/2010/main" val="2290052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241FE-02D3-5135-DEF6-105920B502A9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en-US"/>
              <a:t>14. 테스트 결과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B08A75-99F3-D4E8-6799-B7070D5C9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30000"/>
            <a:ext cx="5150000" cy="1577603"/>
          </a:xfrm>
          <a:prstGeom prst="rect">
            <a:avLst/>
          </a:prstGeom>
        </p:spPr>
      </p:pic>
      <p:sp>
        <p:nvSpPr>
          <p:cNvPr id="701" name="Text 701"/>
          <p:cNvSpPr/>
          <p:nvPr/>
        </p:nvSpPr>
        <p:spPr>
          <a:xfrm>
            <a:off x="502920" y="1090000"/>
            <a:ext cx="51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9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EquipmentControllerTest 실행 결과 (JUnit · MockMvc)</a:t>
            </a:r>
          </a:p>
        </p:txBody>
      </p:sp>
      <p:sp>
        <p:nvSpPr>
          <p:cNvPr id="711" name="box"/>
          <p:cNvSpPr/>
          <p:nvPr/>
        </p:nvSpPr>
        <p:spPr>
          <a:xfrm>
            <a:off x="5800000" y="1330000"/>
            <a:ext cx="1380540" cy="62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2" name="Text 712"/>
          <p:cNvSpPr/>
          <p:nvPr/>
        </p:nvSpPr>
        <p:spPr>
          <a:xfrm>
            <a:off x="5920000" y="1400000"/>
            <a:ext cx="11405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테스트</a:t>
            </a:r>
          </a:p>
          <a:p>
            <a:pPr marL="0" indent="0" algn="l">
              <a:spcBef>
                <a:spcPts val="150"/>
              </a:spcBef>
              <a:buNone/>
            </a:pPr>
            <a:r>
              <a:rPr lang="ko-KR" altLang="en-US" sz="13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</a:t>
            </a:r>
          </a:p>
        </p:txBody>
      </p:sp>
      <p:sp>
        <p:nvSpPr>
          <p:cNvPr id="713" name="box"/>
          <p:cNvSpPr/>
          <p:nvPr/>
        </p:nvSpPr>
        <p:spPr>
          <a:xfrm>
            <a:off x="7260540" y="1330000"/>
            <a:ext cx="1380540" cy="62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4" name="Text 714"/>
          <p:cNvSpPr/>
          <p:nvPr/>
        </p:nvSpPr>
        <p:spPr>
          <a:xfrm>
            <a:off x="7380540" y="1400000"/>
            <a:ext cx="11405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</a:p>
          <a:p>
            <a:pPr marL="0" indent="0" algn="l">
              <a:spcBef>
                <a:spcPts val="150"/>
              </a:spcBef>
              <a:buNone/>
            </a:pPr>
            <a:r>
              <a:rPr lang="ko-KR" altLang="en-US" sz="13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</a:t>
            </a:r>
          </a:p>
        </p:txBody>
      </p:sp>
      <p:sp>
        <p:nvSpPr>
          <p:cNvPr id="715" name="box"/>
          <p:cNvSpPr/>
          <p:nvPr/>
        </p:nvSpPr>
        <p:spPr>
          <a:xfrm>
            <a:off x="5800000" y="2030000"/>
            <a:ext cx="1380540" cy="62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6" name="Text 716"/>
          <p:cNvSpPr/>
          <p:nvPr/>
        </p:nvSpPr>
        <p:spPr>
          <a:xfrm>
            <a:off x="5920000" y="2100000"/>
            <a:ext cx="11405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</a:p>
          <a:p>
            <a:pPr marL="0" indent="0" algn="l">
              <a:spcBef>
                <a:spcPts val="150"/>
              </a:spcBef>
              <a:buNone/>
            </a:pPr>
            <a:r>
              <a:rPr lang="ko-KR" altLang="en-US" sz="13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</a:p>
        </p:txBody>
      </p:sp>
      <p:sp>
        <p:nvSpPr>
          <p:cNvPr id="717" name="box"/>
          <p:cNvSpPr/>
          <p:nvPr/>
        </p:nvSpPr>
        <p:spPr>
          <a:xfrm>
            <a:off x="7260540" y="2030000"/>
            <a:ext cx="1380540" cy="62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8" name="Text 718"/>
          <p:cNvSpPr/>
          <p:nvPr/>
        </p:nvSpPr>
        <p:spPr>
          <a:xfrm>
            <a:off x="7380540" y="2100000"/>
            <a:ext cx="114054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8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실행 시간</a:t>
            </a:r>
          </a:p>
          <a:p>
            <a:pPr marL="0" indent="0" algn="l">
              <a:spcBef>
                <a:spcPts val="150"/>
              </a:spcBef>
              <a:buNone/>
            </a:pPr>
            <a:r>
              <a:rPr lang="ko-KR" altLang="en-US" sz="13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141ms</a:t>
            </a:r>
          </a:p>
        </p:txBody>
      </p:sp>
      <p:sp>
        <p:nvSpPr>
          <p:cNvPr id="719" name="Text 719"/>
          <p:cNvSpPr/>
          <p:nvPr/>
        </p:nvSpPr>
        <p:spPr>
          <a:xfrm>
            <a:off x="502920" y="3087603"/>
            <a:ext cx="515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9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범위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장비 조회 · 장비 등록 · 수정 · 삭제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존재하지 않는 장비 조회 · 수정 · 삭제 (404)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정상 흐름과 예외 흐름 모두 통과</a:t>
            </a:r>
          </a:p>
        </p:txBody>
      </p:sp>
      <p:sp>
        <p:nvSpPr>
          <p:cNvPr id="720" name="box"/>
          <p:cNvSpPr/>
          <p:nvPr/>
        </p:nvSpPr>
        <p:spPr>
          <a:xfrm>
            <a:off x="502920" y="4000000"/>
            <a:ext cx="8138160" cy="43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1" name="Text 721"/>
          <p:cNvSpPr/>
          <p:nvPr/>
        </p:nvSpPr>
        <p:spPr>
          <a:xfrm>
            <a:off x="702920" y="4000000"/>
            <a:ext cx="77381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8건 전체 통과 · 총 141ms — 정상 흐름과 예외 흐름을 모두 검증했습니다.</a:t>
            </a:r>
          </a:p>
        </p:txBody>
      </p:sp>
    </p:spTree>
    <p:extLst>
      <p:ext uri="{BB962C8B-B14F-4D97-AF65-F5344CB8AC3E}">
        <p14:creationId xmlns:p14="http://schemas.microsoft.com/office/powerpoint/2010/main" val="932723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4A27A-C996-4453-8684-15175070895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en-US"/>
              <a:t>15. 기술적 의사결정</a:t>
            </a:r>
          </a:p>
        </p:txBody>
      </p:sp>
      <p:sp>
        <p:nvSpPr>
          <p:cNvPr id="801" name="box"/>
          <p:cNvSpPr/>
          <p:nvPr/>
        </p:nvSpPr>
        <p:spPr>
          <a:xfrm>
            <a:off x="502920" y="1180000"/>
            <a:ext cx="2552720" cy="1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2" name="box"/>
          <p:cNvSpPr/>
          <p:nvPr/>
        </p:nvSpPr>
        <p:spPr>
          <a:xfrm>
            <a:off x="502920" y="1180000"/>
            <a:ext cx="2552720" cy="5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3" name="Text 803"/>
          <p:cNvSpPr/>
          <p:nvPr/>
        </p:nvSpPr>
        <p:spPr>
          <a:xfrm>
            <a:off x="682920" y="1330000"/>
            <a:ext cx="21927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API를 효율적으로 개발하고 계층형 구조를 구성</a:t>
            </a:r>
          </a:p>
        </p:txBody>
      </p:sp>
      <p:sp>
        <p:nvSpPr>
          <p:cNvPr id="804" name="box"/>
          <p:cNvSpPr/>
          <p:nvPr/>
        </p:nvSpPr>
        <p:spPr>
          <a:xfrm>
            <a:off x="3295640" y="1180000"/>
            <a:ext cx="2552720" cy="1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5" name="box"/>
          <p:cNvSpPr/>
          <p:nvPr/>
        </p:nvSpPr>
        <p:spPr>
          <a:xfrm>
            <a:off x="3295640" y="1180000"/>
            <a:ext cx="2552720" cy="5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6" name="Text 806"/>
          <p:cNvSpPr/>
          <p:nvPr/>
        </p:nvSpPr>
        <p:spPr>
          <a:xfrm>
            <a:off x="3475640" y="1330000"/>
            <a:ext cx="21927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중심으로 데이터를 다루고 CRUD 구현을 단순화</a:t>
            </a:r>
          </a:p>
        </p:txBody>
      </p:sp>
      <p:sp>
        <p:nvSpPr>
          <p:cNvPr id="807" name="box"/>
          <p:cNvSpPr/>
          <p:nvPr/>
        </p:nvSpPr>
        <p:spPr>
          <a:xfrm>
            <a:off x="6088360" y="1180000"/>
            <a:ext cx="2552720" cy="1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8" name="box"/>
          <p:cNvSpPr/>
          <p:nvPr/>
        </p:nvSpPr>
        <p:spPr>
          <a:xfrm>
            <a:off x="6088360" y="1180000"/>
            <a:ext cx="2552720" cy="5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9" name="Text 809"/>
          <p:cNvSpPr/>
          <p:nvPr/>
        </p:nvSpPr>
        <p:spPr>
          <a:xfrm>
            <a:off x="6268360" y="1330000"/>
            <a:ext cx="21927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Database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데이터를 안정적으로 관리</a:t>
            </a:r>
          </a:p>
        </p:txBody>
      </p:sp>
      <p:sp>
        <p:nvSpPr>
          <p:cNvPr id="810" name="box"/>
          <p:cNvSpPr/>
          <p:nvPr/>
        </p:nvSpPr>
        <p:spPr>
          <a:xfrm>
            <a:off x="502920" y="2540000"/>
            <a:ext cx="2552720" cy="1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1" name="box"/>
          <p:cNvSpPr/>
          <p:nvPr/>
        </p:nvSpPr>
        <p:spPr>
          <a:xfrm>
            <a:off x="502920" y="2540000"/>
            <a:ext cx="2552720" cy="5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2" name="Text 812"/>
          <p:cNvSpPr/>
          <p:nvPr/>
        </p:nvSpPr>
        <p:spPr>
          <a:xfrm>
            <a:off x="682920" y="2690000"/>
            <a:ext cx="21927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MockMvc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HTTP 요청과 유사한 방식으로 Controller 검증</a:t>
            </a:r>
          </a:p>
        </p:txBody>
      </p:sp>
      <p:sp>
        <p:nvSpPr>
          <p:cNvPr id="813" name="box"/>
          <p:cNvSpPr/>
          <p:nvPr/>
        </p:nvSpPr>
        <p:spPr>
          <a:xfrm>
            <a:off x="3295640" y="2540000"/>
            <a:ext cx="2552720" cy="1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4" name="box"/>
          <p:cNvSpPr/>
          <p:nvPr/>
        </p:nvSpPr>
        <p:spPr>
          <a:xfrm>
            <a:off x="3295640" y="2540000"/>
            <a:ext cx="2552720" cy="5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5" name="Text 815"/>
          <p:cNvSpPr/>
          <p:nvPr/>
        </p:nvSpPr>
        <p:spPr>
          <a:xfrm>
            <a:off x="3475640" y="2690000"/>
            <a:ext cx="21927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Swagger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명세 확인과 직접 호출 테스트</a:t>
            </a:r>
          </a:p>
        </p:txBody>
      </p:sp>
      <p:sp>
        <p:nvSpPr>
          <p:cNvPr id="816" name="box"/>
          <p:cNvSpPr/>
          <p:nvPr/>
        </p:nvSpPr>
        <p:spPr>
          <a:xfrm>
            <a:off x="6088360" y="2540000"/>
            <a:ext cx="2552720" cy="1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7" name="box"/>
          <p:cNvSpPr/>
          <p:nvPr/>
        </p:nvSpPr>
        <p:spPr>
          <a:xfrm>
            <a:off x="6088360" y="2540000"/>
            <a:ext cx="2552720" cy="5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8" name="Text 818"/>
          <p:cNvSpPr/>
          <p:nvPr/>
        </p:nvSpPr>
        <p:spPr>
          <a:xfrm>
            <a:off x="6268360" y="2690000"/>
            <a:ext cx="219272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GlobalExceptionHandler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85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응답 형식을 일관되게 관리</a:t>
            </a:r>
          </a:p>
        </p:txBody>
      </p:sp>
      <p:sp>
        <p:nvSpPr>
          <p:cNvPr id="819" name="box"/>
          <p:cNvSpPr/>
          <p:nvPr/>
        </p:nvSpPr>
        <p:spPr>
          <a:xfrm>
            <a:off x="502920" y="4020000"/>
            <a:ext cx="8138160" cy="43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0" name="Text 820"/>
          <p:cNvSpPr/>
          <p:nvPr/>
        </p:nvSpPr>
        <p:spPr>
          <a:xfrm>
            <a:off x="702920" y="4020000"/>
            <a:ext cx="77381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 기준: 계층 분리 · 검증 가능성 · 일관된 응답 — 목적에 맞는 최소 구성으로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2330700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"/>
          <p:cNvSpPr>
            <a:spLocks noGrp="1"/>
          </p:cNvSpPr>
          <p:nvPr>
            <p:ph type="title" idx="101"/>
          </p:nvPr>
        </p:nvSpPr>
        <p:spPr>
          <a:xfrm>
            <a:off x="502920" y="347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Backend 수정 및 CRUD 연동</a:t>
            </a:r>
          </a:p>
        </p:txBody>
      </p:sp>
      <p:sp>
        <p:nvSpPr>
          <p:cNvPr id="57" name="Shape"/>
          <p:cNvSpPr/>
          <p:nvPr/>
        </p:nvSpPr>
        <p:spPr>
          <a:xfrm>
            <a:off x="6949440" y="438912"/>
            <a:ext cx="1691640" cy="320040"/>
          </a:xfrm>
          <a:prstGeom prst="round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"/>
          <p:cNvSpPr txBox="1"/>
          <p:nvPr/>
        </p:nvSpPr>
        <p:spPr>
          <a:xfrm>
            <a:off x="6949440" y="438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502920" y="1160000"/>
            <a:ext cx="42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장비 데이터 구조를 프론트 요청 기준으로 정리</a:t>
            </a:r>
          </a:p>
        </p:txBody>
      </p:sp>
      <p:sp>
        <p:nvSpPr>
          <p:cNvPr id="60" name="Shape"/>
          <p:cNvSpPr/>
          <p:nvPr/>
        </p:nvSpPr>
        <p:spPr>
          <a:xfrm>
            <a:off x="502920" y="1460000"/>
            <a:ext cx="3840480" cy="88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"/>
          <p:cNvSpPr/>
          <p:nvPr/>
        </p:nvSpPr>
        <p:spPr>
          <a:xfrm>
            <a:off x="502920" y="1460000"/>
            <a:ext cx="45720" cy="88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"/>
          <p:cNvSpPr txBox="1"/>
          <p:nvPr/>
        </p:nvSpPr>
        <p:spPr>
          <a:xfrm>
            <a:off x="708660" y="1642880"/>
            <a:ext cx="3520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EquipmentRequest 데이터 구조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708660" y="1972064"/>
            <a:ext cx="3520440" cy="23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eqNo · name · categoryId ·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statusCodeId · location</a:t>
            </a:r>
          </a:p>
        </p:txBody>
      </p:sp>
      <p:sp>
        <p:nvSpPr>
          <p:cNvPr id="64" name="Shape"/>
          <p:cNvSpPr/>
          <p:nvPr/>
        </p:nvSpPr>
        <p:spPr>
          <a:xfrm>
            <a:off x="502920" y="2440000"/>
            <a:ext cx="3840480" cy="88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"/>
          <p:cNvSpPr/>
          <p:nvPr/>
        </p:nvSpPr>
        <p:spPr>
          <a:xfrm>
            <a:off x="502920" y="2440000"/>
            <a:ext cx="45720" cy="88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"/>
          <p:cNvSpPr txBox="1"/>
          <p:nvPr/>
        </p:nvSpPr>
        <p:spPr>
          <a:xfrm>
            <a:off x="708660" y="2622880"/>
            <a:ext cx="3520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categoryId / statusCodeId 처리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708660" y="2952064"/>
            <a:ext cx="3520440" cy="23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문자열로 넘어오는 select 값을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Number() 로 변환해 전달</a:t>
            </a:r>
          </a:p>
        </p:txBody>
      </p:sp>
      <p:sp>
        <p:nvSpPr>
          <p:cNvPr id="68" name="Shape"/>
          <p:cNvSpPr/>
          <p:nvPr/>
        </p:nvSpPr>
        <p:spPr>
          <a:xfrm>
            <a:off x="502920" y="3420000"/>
            <a:ext cx="3840480" cy="88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"/>
          <p:cNvSpPr/>
          <p:nvPr/>
        </p:nvSpPr>
        <p:spPr>
          <a:xfrm>
            <a:off x="502920" y="3420000"/>
            <a:ext cx="45720" cy="88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"/>
          <p:cNvSpPr txBox="1"/>
          <p:nvPr/>
        </p:nvSpPr>
        <p:spPr>
          <a:xfrm>
            <a:off x="708660" y="3602880"/>
            <a:ext cx="3520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API 정리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708660" y="3932064"/>
            <a:ext cx="3520440" cy="23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 5개 + 장비 번호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확인 API 구성</a:t>
            </a:r>
          </a:p>
        </p:txBody>
      </p:sp>
      <p:sp>
        <p:nvSpPr>
          <p:cNvPr id="72" name="Shape"/>
          <p:cNvSpPr/>
          <p:nvPr/>
        </p:nvSpPr>
        <p:spPr>
          <a:xfrm>
            <a:off x="4754880" y="1460000"/>
            <a:ext cx="3886200" cy="1900000"/>
          </a:xfrm>
          <a:prstGeom prst="rect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"/>
          <p:cNvSpPr txBox="1"/>
          <p:nvPr/>
        </p:nvSpPr>
        <p:spPr>
          <a:xfrm>
            <a:off x="4937760" y="1597160"/>
            <a:ext cx="35204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00" b="1" spc="200">
                <a:solidFill>
                  <a:srgbClr val="0E9BB5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REQUEST DATA (React)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4937760" y="1871480"/>
            <a:ext cx="352044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const requestData = {</a:t>
            </a:r>
          </a:p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    eqNo: form.eqNo,</a:t>
            </a:r>
          </a:p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    name: form.name,</a:t>
            </a:r>
          </a:p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    categoryId: Number(form.categoryId),</a:t>
            </a:r>
          </a:p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    statusCodeId: Number(form.statusCodeId),</a:t>
            </a:r>
          </a:p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    location: form.location,</a:t>
            </a:r>
          </a:p>
          <a:p>
            <a:pPr marL="0" indent="0">
              <a:buNone/>
            </a:pPr>
            <a:r>
              <a:rPr lang="ko-KR" altLang="en-US" sz="85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};</a:t>
            </a:r>
          </a:p>
        </p:txBody>
      </p:sp>
      <p:sp>
        <p:nvSpPr>
          <p:cNvPr id="75" name="Shape"/>
          <p:cNvSpPr/>
          <p:nvPr/>
        </p:nvSpPr>
        <p:spPr>
          <a:xfrm>
            <a:off x="4754880" y="3480000"/>
            <a:ext cx="3886200" cy="82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"/>
          <p:cNvSpPr/>
          <p:nvPr/>
        </p:nvSpPr>
        <p:spPr>
          <a:xfrm>
            <a:off x="4754880" y="3480000"/>
            <a:ext cx="45720" cy="82000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"/>
          <p:cNvSpPr txBox="1"/>
          <p:nvPr/>
        </p:nvSpPr>
        <p:spPr>
          <a:xfrm>
            <a:off x="4960620" y="3662880"/>
            <a:ext cx="3566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수정했는가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4960620" y="3992064"/>
            <a:ext cx="3566160" cy="17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8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값이 문자열로 전달되어</a:t>
            </a:r>
          </a:p>
          <a:p>
            <a:pPr marL="0" indent="0">
              <a:buNone/>
            </a:pPr>
            <a:r>
              <a:rPr lang="ko-KR" altLang="en-US" sz="88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숫자 타입과 맞지 않았기 때문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"/>
          <p:cNvSpPr>
            <a:spLocks noGrp="1"/>
          </p:cNvSpPr>
          <p:nvPr>
            <p:ph type="title" idx="101"/>
          </p:nvPr>
        </p:nvSpPr>
        <p:spPr>
          <a:xfrm>
            <a:off x="502920" y="347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및 공장별 현황</a:t>
            </a:r>
          </a:p>
        </p:txBody>
      </p:sp>
      <p:sp>
        <p:nvSpPr>
          <p:cNvPr id="140" name="Shape"/>
          <p:cNvSpPr/>
          <p:nvPr/>
        </p:nvSpPr>
        <p:spPr>
          <a:xfrm>
            <a:off x="6949440" y="438912"/>
            <a:ext cx="1691640" cy="320040"/>
          </a:xfrm>
          <a:prstGeom prst="round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Text"/>
          <p:cNvSpPr txBox="1"/>
          <p:nvPr/>
        </p:nvSpPr>
        <p:spPr>
          <a:xfrm>
            <a:off x="6949440" y="438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</a:p>
        </p:txBody>
      </p:sp>
      <p:sp>
        <p:nvSpPr>
          <p:cNvPr id="142" name="Shape"/>
          <p:cNvSpPr/>
          <p:nvPr/>
        </p:nvSpPr>
        <p:spPr>
          <a:xfrm>
            <a:off x="502920" y="1160000"/>
            <a:ext cx="1931670" cy="8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"/>
          <p:cNvSpPr/>
          <p:nvPr/>
        </p:nvSpPr>
        <p:spPr>
          <a:xfrm>
            <a:off x="502920" y="1160000"/>
            <a:ext cx="1931670" cy="4572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4" name="Text"/>
          <p:cNvSpPr txBox="1"/>
          <p:nvPr/>
        </p:nvSpPr>
        <p:spPr>
          <a:xfrm>
            <a:off x="502920" y="1280000"/>
            <a:ext cx="193167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장비</a:t>
            </a:r>
          </a:p>
        </p:txBody>
      </p:sp>
      <p:sp>
        <p:nvSpPr>
          <p:cNvPr id="145" name="Text"/>
          <p:cNvSpPr txBox="1"/>
          <p:nvPr/>
        </p:nvSpPr>
        <p:spPr>
          <a:xfrm>
            <a:off x="502920" y="1630000"/>
            <a:ext cx="193167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모든 장비</a:t>
            </a:r>
          </a:p>
        </p:txBody>
      </p:sp>
      <p:sp>
        <p:nvSpPr>
          <p:cNvPr id="146" name="Shape"/>
          <p:cNvSpPr/>
          <p:nvPr/>
        </p:nvSpPr>
        <p:spPr>
          <a:xfrm>
            <a:off x="2571750" y="1160000"/>
            <a:ext cx="1931670" cy="8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"/>
          <p:cNvSpPr/>
          <p:nvPr/>
        </p:nvSpPr>
        <p:spPr>
          <a:xfrm>
            <a:off x="2571750" y="1160000"/>
            <a:ext cx="1931670" cy="4572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8" name="Text"/>
          <p:cNvSpPr txBox="1"/>
          <p:nvPr/>
        </p:nvSpPr>
        <p:spPr>
          <a:xfrm>
            <a:off x="2571750" y="1280000"/>
            <a:ext cx="193167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</a:p>
        </p:txBody>
      </p:sp>
      <p:sp>
        <p:nvSpPr>
          <p:cNvPr id="149" name="Text"/>
          <p:cNvSpPr txBox="1"/>
          <p:nvPr/>
        </p:nvSpPr>
        <p:spPr>
          <a:xfrm>
            <a:off x="2571750" y="1630000"/>
            <a:ext cx="193167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statusCodeId 1</a:t>
            </a:r>
          </a:p>
        </p:txBody>
      </p:sp>
      <p:sp>
        <p:nvSpPr>
          <p:cNvPr id="150" name="Shape"/>
          <p:cNvSpPr/>
          <p:nvPr/>
        </p:nvSpPr>
        <p:spPr>
          <a:xfrm>
            <a:off x="4640580" y="1160000"/>
            <a:ext cx="1931670" cy="8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"/>
          <p:cNvSpPr/>
          <p:nvPr/>
        </p:nvSpPr>
        <p:spPr>
          <a:xfrm>
            <a:off x="4640580" y="1160000"/>
            <a:ext cx="1931670" cy="4572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2" name="Text"/>
          <p:cNvSpPr txBox="1"/>
          <p:nvPr/>
        </p:nvSpPr>
        <p:spPr>
          <a:xfrm>
            <a:off x="4640580" y="1280000"/>
            <a:ext cx="193167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</a:p>
        </p:txBody>
      </p:sp>
      <p:sp>
        <p:nvSpPr>
          <p:cNvPr id="153" name="Text"/>
          <p:cNvSpPr txBox="1"/>
          <p:nvPr/>
        </p:nvSpPr>
        <p:spPr>
          <a:xfrm>
            <a:off x="4640580" y="1630000"/>
            <a:ext cx="193167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statusCodeId 2</a:t>
            </a:r>
          </a:p>
        </p:txBody>
      </p:sp>
      <p:sp>
        <p:nvSpPr>
          <p:cNvPr id="154" name="Shape"/>
          <p:cNvSpPr/>
          <p:nvPr/>
        </p:nvSpPr>
        <p:spPr>
          <a:xfrm>
            <a:off x="6709410" y="1160000"/>
            <a:ext cx="1931670" cy="8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"/>
          <p:cNvSpPr/>
          <p:nvPr/>
        </p:nvSpPr>
        <p:spPr>
          <a:xfrm>
            <a:off x="6709410" y="1160000"/>
            <a:ext cx="1931670" cy="45720"/>
          </a:xfrm>
          <a:prstGeom prst="rect">
            <a:avLst/>
          </a:prstGeom>
          <a:solidFill>
            <a:srgbClr val="4451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6" name="Text"/>
          <p:cNvSpPr txBox="1"/>
          <p:nvPr/>
        </p:nvSpPr>
        <p:spPr>
          <a:xfrm>
            <a:off x="6709410" y="1280000"/>
            <a:ext cx="193167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</a:t>
            </a:r>
          </a:p>
        </p:txBody>
      </p:sp>
      <p:sp>
        <p:nvSpPr>
          <p:cNvPr id="157" name="Text"/>
          <p:cNvSpPr txBox="1"/>
          <p:nvPr/>
        </p:nvSpPr>
        <p:spPr>
          <a:xfrm>
            <a:off x="6709410" y="1630000"/>
            <a:ext cx="193167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statusCodeId 3</a:t>
            </a:r>
          </a:p>
        </p:txBody>
      </p:sp>
      <p:sp>
        <p:nvSpPr>
          <p:cNvPr id="158" name="Shape"/>
          <p:cNvSpPr/>
          <p:nvPr/>
        </p:nvSpPr>
        <p:spPr>
          <a:xfrm>
            <a:off x="502920" y="2120000"/>
            <a:ext cx="3840480" cy="165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"/>
          <p:cNvSpPr/>
          <p:nvPr/>
        </p:nvSpPr>
        <p:spPr>
          <a:xfrm>
            <a:off x="502920" y="2120000"/>
            <a:ext cx="45720" cy="165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0" name="Text"/>
          <p:cNvSpPr txBox="1"/>
          <p:nvPr/>
        </p:nvSpPr>
        <p:spPr>
          <a:xfrm>
            <a:off x="708660" y="2302880"/>
            <a:ext cx="3520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공장별 현황</a:t>
            </a:r>
          </a:p>
        </p:txBody>
      </p:sp>
      <p:sp>
        <p:nvSpPr>
          <p:cNvPr id="161" name="Text"/>
          <p:cNvSpPr txBox="1"/>
          <p:nvPr/>
        </p:nvSpPr>
        <p:spPr>
          <a:xfrm>
            <a:off x="708660" y="2632064"/>
            <a:ext cx="3520440" cy="10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location 기준으로 공장별 장비 수 집계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/ 정상 / 오류 / 중지 수 표시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클릭 시 해당 공장 장비만 필터 조회</a:t>
            </a:r>
          </a:p>
        </p:txBody>
      </p:sp>
      <p:sp>
        <p:nvSpPr>
          <p:cNvPr id="162" name="Shape"/>
          <p:cNvSpPr/>
          <p:nvPr/>
        </p:nvSpPr>
        <p:spPr>
          <a:xfrm>
            <a:off x="4754880" y="2120000"/>
            <a:ext cx="388620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"/>
          <p:cNvSpPr txBox="1"/>
          <p:nvPr/>
        </p:nvSpPr>
        <p:spPr>
          <a:xfrm>
            <a:off x="4754880" y="2120000"/>
            <a:ext cx="3886200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0">
                <a:solidFill>
                  <a:srgbClr val="8F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영역</a:t>
            </a:r>
          </a:p>
          <a:p>
            <a:pPr marL="0" indent="0" algn="ctr">
              <a:buNone/>
            </a:pPr>
            <a:r>
              <a:rPr lang="ko-KR" altLang="en-US" sz="900" b="0">
                <a:solidFill>
                  <a:srgbClr val="8F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/ 공장별 현황</a:t>
            </a:r>
          </a:p>
        </p:txBody>
      </p:sp>
      <p:sp>
        <p:nvSpPr>
          <p:cNvPr id="164" name="Shape"/>
          <p:cNvSpPr/>
          <p:nvPr/>
        </p:nvSpPr>
        <p:spPr>
          <a:xfrm>
            <a:off x="502920" y="4160520"/>
            <a:ext cx="8138160" cy="350520"/>
          </a:xfrm>
          <a:prstGeom prst="rect">
            <a:avLst/>
          </a:prstGeom>
          <a:solidFill>
            <a:srgbClr val="E8F0F9"/>
          </a:solidFill>
          <a:ln w="12700">
            <a:solidFill>
              <a:srgbClr val="CB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"/>
          <p:cNvSpPr/>
          <p:nvPr/>
        </p:nvSpPr>
        <p:spPr>
          <a:xfrm>
            <a:off x="502920" y="4160520"/>
            <a:ext cx="45720" cy="35052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6" name="Text"/>
          <p:cNvSpPr txBox="1"/>
          <p:nvPr/>
        </p:nvSpPr>
        <p:spPr>
          <a:xfrm>
            <a:off x="685800" y="4160520"/>
            <a:ext cx="7900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   statusCodeId 와 location 만으로 실시간 현황 지표를 구성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BEF830-5EB7-8D75-1543-6D94EF0BF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976" y="2120000"/>
            <a:ext cx="1714008" cy="17309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 idx="101"/>
          </p:nvPr>
        </p:nvSpPr>
        <p:spPr>
          <a:xfrm>
            <a:off x="502920" y="347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/ 필터 / 상세 모달</a:t>
            </a:r>
          </a:p>
        </p:txBody>
      </p:sp>
      <p:sp>
        <p:nvSpPr>
          <p:cNvPr id="12" name="Shape"/>
          <p:cNvSpPr/>
          <p:nvPr/>
        </p:nvSpPr>
        <p:spPr>
          <a:xfrm>
            <a:off x="6949440" y="438912"/>
            <a:ext cx="1691640" cy="320040"/>
          </a:xfrm>
          <a:prstGeom prst="round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"/>
          <p:cNvSpPr txBox="1"/>
          <p:nvPr/>
        </p:nvSpPr>
        <p:spPr>
          <a:xfrm>
            <a:off x="6949440" y="438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</a:p>
        </p:txBody>
      </p:sp>
      <p:sp>
        <p:nvSpPr>
          <p:cNvPr id="14" name="Shape"/>
          <p:cNvSpPr/>
          <p:nvPr/>
        </p:nvSpPr>
        <p:spPr>
          <a:xfrm>
            <a:off x="502920" y="1160000"/>
            <a:ext cx="3383280" cy="68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"/>
          <p:cNvSpPr/>
          <p:nvPr/>
        </p:nvSpPr>
        <p:spPr>
          <a:xfrm>
            <a:off x="502920" y="1160000"/>
            <a:ext cx="45720" cy="68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"/>
          <p:cNvSpPr txBox="1"/>
          <p:nvPr/>
        </p:nvSpPr>
        <p:spPr>
          <a:xfrm>
            <a:off x="708660" y="1300000"/>
            <a:ext cx="3063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검색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08660" y="1590000"/>
            <a:ext cx="306324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85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장비명 · 장비 번호 · 위치 조건 검색</a:t>
            </a:r>
          </a:p>
        </p:txBody>
      </p:sp>
      <p:sp>
        <p:nvSpPr>
          <p:cNvPr id="18" name="Shape"/>
          <p:cNvSpPr/>
          <p:nvPr/>
        </p:nvSpPr>
        <p:spPr>
          <a:xfrm>
            <a:off x="502920" y="1920000"/>
            <a:ext cx="3383280" cy="68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"/>
          <p:cNvSpPr/>
          <p:nvPr/>
        </p:nvSpPr>
        <p:spPr>
          <a:xfrm>
            <a:off x="502920" y="1920000"/>
            <a:ext cx="45720" cy="68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"/>
          <p:cNvSpPr txBox="1"/>
          <p:nvPr/>
        </p:nvSpPr>
        <p:spPr>
          <a:xfrm>
            <a:off x="708660" y="2060000"/>
            <a:ext cx="3063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/ 공장 필터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08660" y="2350000"/>
            <a:ext cx="306324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85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· 오류 · 중지, 공장별 필터와 초기화</a:t>
            </a:r>
          </a:p>
        </p:txBody>
      </p:sp>
      <p:sp>
        <p:nvSpPr>
          <p:cNvPr id="22" name="Shape"/>
          <p:cNvSpPr/>
          <p:nvPr/>
        </p:nvSpPr>
        <p:spPr>
          <a:xfrm>
            <a:off x="502920" y="2680000"/>
            <a:ext cx="3383280" cy="68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"/>
          <p:cNvSpPr/>
          <p:nvPr/>
        </p:nvSpPr>
        <p:spPr>
          <a:xfrm>
            <a:off x="502920" y="2680000"/>
            <a:ext cx="45720" cy="68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"/>
          <p:cNvSpPr txBox="1"/>
          <p:nvPr/>
        </p:nvSpPr>
        <p:spPr>
          <a:xfrm>
            <a:off x="708660" y="2820000"/>
            <a:ext cx="30632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상세 모달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08660" y="3110000"/>
            <a:ext cx="306324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85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장비명 클릭 시 모달로 상세 확인 후 수정 이동</a:t>
            </a:r>
          </a:p>
        </p:txBody>
      </p:sp>
      <p:sp>
        <p:nvSpPr>
          <p:cNvPr id="26" name="Shape"/>
          <p:cNvSpPr/>
          <p:nvPr/>
        </p:nvSpPr>
        <p:spPr>
          <a:xfrm>
            <a:off x="502920" y="3440000"/>
            <a:ext cx="3383280" cy="62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"/>
          <p:cNvSpPr/>
          <p:nvPr/>
        </p:nvSpPr>
        <p:spPr>
          <a:xfrm>
            <a:off x="502920" y="3440000"/>
            <a:ext cx="45720" cy="62000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"/>
          <p:cNvSpPr txBox="1"/>
          <p:nvPr/>
        </p:nvSpPr>
        <p:spPr>
          <a:xfrm>
            <a:off x="708660" y="3510000"/>
            <a:ext cx="30632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8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값을 사용자 언어로 변환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08660" y="3770000"/>
            <a:ext cx="306324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84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1·2·3 → 정상·오류·중지</a:t>
            </a:r>
          </a:p>
          <a:p>
            <a:pPr marL="0" indent="0" algn="l">
              <a:buNone/>
            </a:pPr>
            <a:r>
              <a:rPr lang="ko-KR" altLang="en-US" sz="84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1·2·3 → 생산·가공·검사장비</a:t>
            </a:r>
          </a:p>
        </p:txBody>
      </p:sp>
      <p:sp>
        <p:nvSpPr>
          <p:cNvPr id="30" name="Shape"/>
          <p:cNvSpPr/>
          <p:nvPr/>
        </p:nvSpPr>
        <p:spPr>
          <a:xfrm>
            <a:off x="4069080" y="1160000"/>
            <a:ext cx="4572000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7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"/>
          <p:cNvSpPr txBox="1"/>
          <p:nvPr/>
        </p:nvSpPr>
        <p:spPr>
          <a:xfrm>
            <a:off x="4069080" y="2410000"/>
            <a:ext cx="4572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0">
                <a:solidFill>
                  <a:srgbClr val="8F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영역</a:t>
            </a:r>
          </a:p>
          <a:p>
            <a:pPr marL="0" indent="0" algn="ctr">
              <a:buNone/>
            </a:pPr>
            <a:r>
              <a:rPr lang="ko-KR" altLang="en-US" sz="1000" b="0">
                <a:solidFill>
                  <a:srgbClr val="8F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필터 · 상세 모달</a:t>
            </a:r>
          </a:p>
        </p:txBody>
      </p:sp>
      <p:sp>
        <p:nvSpPr>
          <p:cNvPr id="32" name="Shape"/>
          <p:cNvSpPr/>
          <p:nvPr/>
        </p:nvSpPr>
        <p:spPr>
          <a:xfrm>
            <a:off x="502920" y="4160520"/>
            <a:ext cx="8138160" cy="350520"/>
          </a:xfrm>
          <a:prstGeom prst="rect">
            <a:avLst/>
          </a:prstGeom>
          <a:solidFill>
            <a:srgbClr val="E8F0F9"/>
          </a:solidFill>
          <a:ln w="12700">
            <a:solidFill>
              <a:srgbClr val="CB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"/>
          <p:cNvSpPr/>
          <p:nvPr/>
        </p:nvSpPr>
        <p:spPr>
          <a:xfrm>
            <a:off x="502920" y="4160520"/>
            <a:ext cx="45720" cy="35052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685800" y="4160520"/>
            <a:ext cx="7900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   검색·필터·모달 모두 페이지 이동 없이 한 화면에서 처리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2EAF3C-7162-ACE7-2625-169B1833D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201" y="1160000"/>
            <a:ext cx="2919758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"/>
          <p:cNvSpPr>
            <a:spLocks noGrp="1"/>
          </p:cNvSpPr>
          <p:nvPr>
            <p:ph type="title" idx="101"/>
          </p:nvPr>
        </p:nvSpPr>
        <p:spPr>
          <a:xfrm>
            <a:off x="502920" y="347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인증 연동</a:t>
            </a:r>
          </a:p>
        </p:txBody>
      </p:sp>
      <p:sp>
        <p:nvSpPr>
          <p:cNvPr id="191" name="Shape"/>
          <p:cNvSpPr/>
          <p:nvPr/>
        </p:nvSpPr>
        <p:spPr>
          <a:xfrm>
            <a:off x="6949440" y="438912"/>
            <a:ext cx="1691640" cy="320040"/>
          </a:xfrm>
          <a:prstGeom prst="round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Text"/>
          <p:cNvSpPr txBox="1"/>
          <p:nvPr/>
        </p:nvSpPr>
        <p:spPr>
          <a:xfrm>
            <a:off x="6949440" y="438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</a:p>
        </p:txBody>
      </p:sp>
      <p:sp>
        <p:nvSpPr>
          <p:cNvPr id="193" name="Shape"/>
          <p:cNvSpPr/>
          <p:nvPr/>
        </p:nvSpPr>
        <p:spPr>
          <a:xfrm>
            <a:off x="502920" y="1340000"/>
            <a:ext cx="1920240" cy="600000"/>
          </a:xfrm>
          <a:prstGeom prst="round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Text"/>
          <p:cNvSpPr txBox="1"/>
          <p:nvPr/>
        </p:nvSpPr>
        <p:spPr>
          <a:xfrm>
            <a:off x="502920" y="1340000"/>
            <a:ext cx="1920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로그인</a:t>
            </a:r>
          </a:p>
        </p:txBody>
      </p:sp>
      <p:sp>
        <p:nvSpPr>
          <p:cNvPr id="195" name="Shape"/>
          <p:cNvSpPr/>
          <p:nvPr/>
        </p:nvSpPr>
        <p:spPr>
          <a:xfrm>
            <a:off x="2560320" y="1550000"/>
            <a:ext cx="457200" cy="137160"/>
          </a:xfrm>
          <a:prstGeom prst="rightArrow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"/>
          <p:cNvSpPr/>
          <p:nvPr/>
        </p:nvSpPr>
        <p:spPr>
          <a:xfrm>
            <a:off x="3108960" y="1340000"/>
            <a:ext cx="1920240" cy="600000"/>
          </a:xfrm>
          <a:prstGeom prst="roundRect">
            <a:avLst/>
          </a:prstGeom>
          <a:solidFill>
            <a:srgbClr val="0E9BB5"/>
          </a:solidFill>
          <a:ln w="12700">
            <a:solidFill>
              <a:srgbClr val="0E9BB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Text"/>
          <p:cNvSpPr txBox="1"/>
          <p:nvPr/>
        </p:nvSpPr>
        <p:spPr>
          <a:xfrm>
            <a:off x="3108960" y="1340000"/>
            <a:ext cx="1920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</a:p>
        </p:txBody>
      </p:sp>
      <p:sp>
        <p:nvSpPr>
          <p:cNvPr id="198" name="Shape"/>
          <p:cNvSpPr/>
          <p:nvPr/>
        </p:nvSpPr>
        <p:spPr>
          <a:xfrm>
            <a:off x="5166360" y="1550000"/>
            <a:ext cx="457200" cy="137160"/>
          </a:xfrm>
          <a:prstGeom prst="rightArrow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"/>
          <p:cNvSpPr/>
          <p:nvPr/>
        </p:nvSpPr>
        <p:spPr>
          <a:xfrm>
            <a:off x="5715000" y="1340000"/>
            <a:ext cx="1920240" cy="600000"/>
          </a:xfrm>
          <a:prstGeom prst="roundRect">
            <a:avLst/>
          </a:prstGeom>
          <a:solidFill>
            <a:srgbClr val="12283C"/>
          </a:solidFill>
          <a:ln w="12700">
            <a:solidFill>
              <a:srgbClr val="12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"/>
          <p:cNvSpPr txBox="1"/>
          <p:nvPr/>
        </p:nvSpPr>
        <p:spPr>
          <a:xfrm>
            <a:off x="5715000" y="1340000"/>
            <a:ext cx="19202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· 쿠키 발급</a:t>
            </a:r>
          </a:p>
        </p:txBody>
      </p:sp>
      <p:sp>
        <p:nvSpPr>
          <p:cNvPr id="201" name="Text"/>
          <p:cNvSpPr txBox="1"/>
          <p:nvPr/>
        </p:nvSpPr>
        <p:spPr>
          <a:xfrm>
            <a:off x="502920" y="2040000"/>
            <a:ext cx="71323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모든 장비 API 요청에 인증 정보 포함</a:t>
            </a:r>
          </a:p>
        </p:txBody>
      </p:sp>
      <p:sp>
        <p:nvSpPr>
          <p:cNvPr id="202" name="Shape"/>
          <p:cNvSpPr/>
          <p:nvPr/>
        </p:nvSpPr>
        <p:spPr>
          <a:xfrm>
            <a:off x="502920" y="2510000"/>
            <a:ext cx="3840480" cy="115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"/>
          <p:cNvSpPr/>
          <p:nvPr/>
        </p:nvSpPr>
        <p:spPr>
          <a:xfrm>
            <a:off x="502920" y="2510000"/>
            <a:ext cx="45720" cy="115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4" name="Text"/>
          <p:cNvSpPr txBox="1"/>
          <p:nvPr/>
        </p:nvSpPr>
        <p:spPr>
          <a:xfrm>
            <a:off x="708660" y="2692880"/>
            <a:ext cx="3520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상태 유지</a:t>
            </a:r>
          </a:p>
        </p:txBody>
      </p:sp>
      <p:sp>
        <p:nvSpPr>
          <p:cNvPr id="205" name="Text"/>
          <p:cNvSpPr txBox="1"/>
          <p:nvPr/>
        </p:nvSpPr>
        <p:spPr>
          <a:xfrm>
            <a:off x="708660" y="3022064"/>
            <a:ext cx="3520440" cy="5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8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 요청마다 쿠키를 함께 전송해</a:t>
            </a:r>
          </a:p>
          <a:p>
            <a:pPr marL="0" indent="0">
              <a:buNone/>
            </a:pPr>
            <a:r>
              <a:rPr lang="ko-KR" altLang="en-US" sz="88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상태에서만 장비 API 호출</a:t>
            </a:r>
          </a:p>
        </p:txBody>
      </p:sp>
      <p:sp>
        <p:nvSpPr>
          <p:cNvPr id="206" name="Shape"/>
          <p:cNvSpPr/>
          <p:nvPr/>
        </p:nvSpPr>
        <p:spPr>
          <a:xfrm>
            <a:off x="4754880" y="2510000"/>
            <a:ext cx="3886200" cy="1150000"/>
          </a:xfrm>
          <a:prstGeom prst="rect">
            <a:avLst/>
          </a:prstGeom>
          <a:solidFill>
            <a:srgbClr val="1228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7" name="Text"/>
          <p:cNvSpPr txBox="1"/>
          <p:nvPr/>
        </p:nvSpPr>
        <p:spPr>
          <a:xfrm>
            <a:off x="4937760" y="2647160"/>
            <a:ext cx="352044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00" b="1" spc="200">
                <a:solidFill>
                  <a:srgbClr val="0E9BB5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FETCH OPTION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4937760" y="2921480"/>
            <a:ext cx="35204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fetch(url, {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  credentials: "include"</a:t>
            </a:r>
          </a:p>
          <a:p>
            <a:pPr marL="0" indent="0">
              <a:buNone/>
            </a:pPr>
            <a:r>
              <a:rPr lang="ko-KR" altLang="en-US" sz="900" b="0">
                <a:solidFill>
                  <a:srgbClr val="D8E4F0"/>
                </a:solidFill>
                <a:latin typeface="Consolas" pitchFamily="34" charset="0"/>
                <a:ea typeface="Malgun Gothic" pitchFamily="34" charset="-122"/>
                <a:cs typeface="Consolas" pitchFamily="34" charset="-120"/>
              </a:rPr>
              <a:t>});</a:t>
            </a:r>
          </a:p>
        </p:txBody>
      </p:sp>
      <p:sp>
        <p:nvSpPr>
          <p:cNvPr id="209" name="Shape"/>
          <p:cNvSpPr/>
          <p:nvPr/>
        </p:nvSpPr>
        <p:spPr>
          <a:xfrm>
            <a:off x="502920" y="4160520"/>
            <a:ext cx="8138160" cy="350520"/>
          </a:xfrm>
          <a:prstGeom prst="rect">
            <a:avLst/>
          </a:prstGeom>
          <a:solidFill>
            <a:srgbClr val="E8F0F9"/>
          </a:solidFill>
          <a:ln w="12700">
            <a:solidFill>
              <a:srgbClr val="CB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Shape"/>
          <p:cNvSpPr/>
          <p:nvPr/>
        </p:nvSpPr>
        <p:spPr>
          <a:xfrm>
            <a:off x="502920" y="4160520"/>
            <a:ext cx="45720" cy="35052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1" name="Text"/>
          <p:cNvSpPr txBox="1"/>
          <p:nvPr/>
        </p:nvSpPr>
        <p:spPr>
          <a:xfrm>
            <a:off x="685800" y="4160520"/>
            <a:ext cx="7900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   credentials: "include" 한 줄로 세션 인증과 프론트 요청을 연결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itle"/>
          <p:cNvSpPr>
            <a:spLocks noGrp="1"/>
          </p:cNvSpPr>
          <p:nvPr>
            <p:ph type="title" idx="101"/>
          </p:nvPr>
        </p:nvSpPr>
        <p:spPr>
          <a:xfrm>
            <a:off x="502920" y="3474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개발 결과 및 다음 단계</a:t>
            </a:r>
          </a:p>
        </p:txBody>
      </p:sp>
      <p:sp>
        <p:nvSpPr>
          <p:cNvPr id="236" name="Shape"/>
          <p:cNvSpPr/>
          <p:nvPr/>
        </p:nvSpPr>
        <p:spPr>
          <a:xfrm>
            <a:off x="6949440" y="438912"/>
            <a:ext cx="1691640" cy="320040"/>
          </a:xfrm>
          <a:prstGeom prst="round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"/>
          <p:cNvSpPr txBox="1"/>
          <p:nvPr/>
        </p:nvSpPr>
        <p:spPr>
          <a:xfrm>
            <a:off x="6949440" y="438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</a:p>
        </p:txBody>
      </p:sp>
      <p:sp>
        <p:nvSpPr>
          <p:cNvPr id="238" name="Shape"/>
          <p:cNvSpPr/>
          <p:nvPr/>
        </p:nvSpPr>
        <p:spPr>
          <a:xfrm>
            <a:off x="502920" y="1160000"/>
            <a:ext cx="3977640" cy="93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"/>
          <p:cNvSpPr/>
          <p:nvPr/>
        </p:nvSpPr>
        <p:spPr>
          <a:xfrm>
            <a:off x="502920" y="1160000"/>
            <a:ext cx="45720" cy="93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0" name="Text"/>
          <p:cNvSpPr txBox="1"/>
          <p:nvPr/>
        </p:nvSpPr>
        <p:spPr>
          <a:xfrm>
            <a:off x="708660" y="1342880"/>
            <a:ext cx="365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→ Backend → Frontend 통합</a:t>
            </a:r>
          </a:p>
        </p:txBody>
      </p:sp>
      <p:sp>
        <p:nvSpPr>
          <p:cNvPr id="241" name="Text"/>
          <p:cNvSpPr txBox="1"/>
          <p:nvPr/>
        </p:nvSpPr>
        <p:spPr>
          <a:xfrm>
            <a:off x="708660" y="1672064"/>
            <a:ext cx="3657600" cy="2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역할·데이터·API·UI를 하나의 흐름으로 연결</a:t>
            </a:r>
          </a:p>
          <a:p>
            <a:pPr marL="0" indent="0">
              <a:buNone/>
            </a:pPr>
            <a:endParaRPr lang="ko-KR" altLang="en-US" sz="860" b="0">
              <a:solidFill>
                <a:srgbClr val="44515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42" name="Shape"/>
          <p:cNvSpPr/>
          <p:nvPr/>
        </p:nvSpPr>
        <p:spPr>
          <a:xfrm>
            <a:off x="4663440" y="1160000"/>
            <a:ext cx="3977640" cy="93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"/>
          <p:cNvSpPr/>
          <p:nvPr/>
        </p:nvSpPr>
        <p:spPr>
          <a:xfrm>
            <a:off x="4663440" y="1160000"/>
            <a:ext cx="45720" cy="93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4" name="Text"/>
          <p:cNvSpPr txBox="1"/>
          <p:nvPr/>
        </p:nvSpPr>
        <p:spPr>
          <a:xfrm>
            <a:off x="4869180" y="1342880"/>
            <a:ext cx="365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관리 기능 구현</a:t>
            </a:r>
          </a:p>
        </p:txBody>
      </p:sp>
      <p:sp>
        <p:nvSpPr>
          <p:cNvPr id="245" name="Text"/>
          <p:cNvSpPr txBox="1"/>
          <p:nvPr/>
        </p:nvSpPr>
        <p:spPr>
          <a:xfrm>
            <a:off x="4869180" y="1672064"/>
            <a:ext cx="3657600" cy="2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· 조회 · 수정 · 삭제와</a:t>
            </a:r>
          </a:p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번호 중복 확인</a:t>
            </a:r>
          </a:p>
        </p:txBody>
      </p:sp>
      <p:sp>
        <p:nvSpPr>
          <p:cNvPr id="246" name="Shape"/>
          <p:cNvSpPr/>
          <p:nvPr/>
        </p:nvSpPr>
        <p:spPr>
          <a:xfrm>
            <a:off x="502920" y="2240000"/>
            <a:ext cx="3977640" cy="93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"/>
          <p:cNvSpPr/>
          <p:nvPr/>
        </p:nvSpPr>
        <p:spPr>
          <a:xfrm>
            <a:off x="502920" y="2240000"/>
            <a:ext cx="45720" cy="93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8" name="Text"/>
          <p:cNvSpPr txBox="1"/>
          <p:nvPr/>
        </p:nvSpPr>
        <p:spPr>
          <a:xfrm>
            <a:off x="708660" y="2422880"/>
            <a:ext cx="365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/ 필터 / 대시보드</a:t>
            </a:r>
          </a:p>
        </p:txBody>
      </p:sp>
      <p:sp>
        <p:nvSpPr>
          <p:cNvPr id="249" name="Text"/>
          <p:cNvSpPr txBox="1"/>
          <p:nvPr/>
        </p:nvSpPr>
        <p:spPr>
          <a:xfrm>
            <a:off x="708660" y="2752064"/>
            <a:ext cx="3657600" cy="2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검색·상태·공장 필터와</a:t>
            </a:r>
          </a:p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장비 현황 화면</a:t>
            </a:r>
          </a:p>
        </p:txBody>
      </p:sp>
      <p:sp>
        <p:nvSpPr>
          <p:cNvPr id="250" name="Shape"/>
          <p:cNvSpPr/>
          <p:nvPr/>
        </p:nvSpPr>
        <p:spPr>
          <a:xfrm>
            <a:off x="4663440" y="2240000"/>
            <a:ext cx="3977640" cy="93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"/>
          <p:cNvSpPr/>
          <p:nvPr/>
        </p:nvSpPr>
        <p:spPr>
          <a:xfrm>
            <a:off x="4663440" y="2240000"/>
            <a:ext cx="45720" cy="930000"/>
          </a:xfrm>
          <a:prstGeom prst="rect">
            <a:avLst/>
          </a:prstGeom>
          <a:solidFill>
            <a:srgbClr val="1E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2" name="Text"/>
          <p:cNvSpPr txBox="1"/>
          <p:nvPr/>
        </p:nvSpPr>
        <p:spPr>
          <a:xfrm>
            <a:off x="4869180" y="2422880"/>
            <a:ext cx="3657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연동</a:t>
            </a:r>
          </a:p>
        </p:txBody>
      </p:sp>
      <p:sp>
        <p:nvSpPr>
          <p:cNvPr id="253" name="Text"/>
          <p:cNvSpPr txBox="1"/>
          <p:nvPr/>
        </p:nvSpPr>
        <p:spPr>
          <a:xfrm>
            <a:off x="4869180" y="2752064"/>
            <a:ext cx="3657600" cy="2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세션/쿠키 기반 인증 상태를</a:t>
            </a:r>
          </a:p>
          <a:p>
            <a:pPr marL="0" indent="0">
              <a:buNone/>
            </a:pPr>
            <a:r>
              <a:rPr lang="ko-KR" altLang="en-US" sz="86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요청에 유지</a:t>
            </a:r>
          </a:p>
        </p:txBody>
      </p:sp>
      <p:sp>
        <p:nvSpPr>
          <p:cNvPr id="254" name="Shape"/>
          <p:cNvSpPr/>
          <p:nvPr/>
        </p:nvSpPr>
        <p:spPr>
          <a:xfrm>
            <a:off x="502920" y="3360000"/>
            <a:ext cx="8138160" cy="700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"/>
          <p:cNvSpPr/>
          <p:nvPr/>
        </p:nvSpPr>
        <p:spPr>
          <a:xfrm>
            <a:off x="502920" y="3360000"/>
            <a:ext cx="45720" cy="700000"/>
          </a:xfrm>
          <a:prstGeom prst="rect">
            <a:avLst/>
          </a:prstGeom>
          <a:solidFill>
            <a:srgbClr val="0E9B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6" name="Text"/>
          <p:cNvSpPr txBox="1"/>
          <p:nvPr/>
        </p:nvSpPr>
        <p:spPr>
          <a:xfrm>
            <a:off x="731520" y="3490000"/>
            <a:ext cx="7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0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방향</a:t>
            </a:r>
          </a:p>
        </p:txBody>
      </p:sp>
      <p:sp>
        <p:nvSpPr>
          <p:cNvPr id="257" name="Text"/>
          <p:cNvSpPr txBox="1"/>
          <p:nvPr/>
        </p:nvSpPr>
        <p:spPr>
          <a:xfrm>
            <a:off x="731520" y="3780000"/>
            <a:ext cx="7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50" b="0">
                <a:solidFill>
                  <a:srgbClr val="4451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검색·필터 고도화 · 이력 추적 · 담당자 지정 · 장애 처리 프로세스 확장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30328-59A4-4C70-9552-C91B4F1FECDF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ko-KR" altLang="en-US"/>
              <a:t>16. 프로젝트 회고</a:t>
            </a:r>
          </a:p>
        </p:txBody>
      </p:sp>
      <p:sp>
        <p:nvSpPr>
          <p:cNvPr id="1101" name="box"/>
          <p:cNvSpPr/>
          <p:nvPr/>
        </p:nvSpPr>
        <p:spPr>
          <a:xfrm>
            <a:off x="502920" y="1200000"/>
            <a:ext cx="1899540" cy="1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2" name="Text 1102"/>
          <p:cNvSpPr/>
          <p:nvPr/>
        </p:nvSpPr>
        <p:spPr>
          <a:xfrm>
            <a:off x="682920" y="1380000"/>
            <a:ext cx="15395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9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처음의 관점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 기능을 완성하는 데 집중했습니다.</a:t>
            </a:r>
          </a:p>
        </p:txBody>
      </p:sp>
      <p:sp>
        <p:nvSpPr>
          <p:cNvPr id="1103" name="box"/>
          <p:cNvSpPr/>
          <p:nvPr/>
        </p:nvSpPr>
        <p:spPr>
          <a:xfrm>
            <a:off x="2582460" y="1200000"/>
            <a:ext cx="1899540" cy="1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4" name="Text 1104"/>
          <p:cNvSpPr/>
          <p:nvPr/>
        </p:nvSpPr>
        <p:spPr>
          <a:xfrm>
            <a:off x="2762460" y="1380000"/>
            <a:ext cx="15395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9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테스트에서 만난 문제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ID로 조회하다 데이터 상태에 따라 404가 발생했습니다.</a:t>
            </a:r>
          </a:p>
        </p:txBody>
      </p:sp>
      <p:sp>
        <p:nvSpPr>
          <p:cNvPr id="1105" name="box"/>
          <p:cNvSpPr/>
          <p:nvPr/>
        </p:nvSpPr>
        <p:spPr>
          <a:xfrm>
            <a:off x="4662000" y="1200000"/>
            <a:ext cx="1899540" cy="156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6" name="Text 1106"/>
          <p:cNvSpPr/>
          <p:nvPr/>
        </p:nvSpPr>
        <p:spPr>
          <a:xfrm>
            <a:off x="4842000" y="1380000"/>
            <a:ext cx="15395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9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개선한 방식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테스트에서 데이터를 직접 생성하고, 생성된 ID로 검증하도록 바꿨습니다.</a:t>
            </a:r>
          </a:p>
        </p:txBody>
      </p:sp>
      <p:sp>
        <p:nvSpPr>
          <p:cNvPr id="1107" name="box"/>
          <p:cNvSpPr/>
          <p:nvPr/>
        </p:nvSpPr>
        <p:spPr>
          <a:xfrm>
            <a:off x="6741540" y="1200000"/>
            <a:ext cx="1899540" cy="1560000"/>
          </a:xfrm>
          <a:prstGeom prst="rect">
            <a:avLst/>
          </a:prstGeom>
          <a:solidFill>
            <a:srgbClr val="E8EEF6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8" name="Text 1108"/>
          <p:cNvSpPr/>
          <p:nvPr/>
        </p:nvSpPr>
        <p:spPr>
          <a:xfrm>
            <a:off x="6921540" y="1380000"/>
            <a:ext cx="15395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100" b="1">
                <a:solidFill>
                  <a:srgbClr val="1E5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</a:p>
          <a:p>
            <a:pPr marL="0" indent="0" algn="l">
              <a:spcBef>
                <a:spcPts val="250"/>
              </a:spcBef>
              <a:buNone/>
            </a:pPr>
            <a:r>
              <a:rPr lang="ko-KR" altLang="en-US" sz="950" b="1">
                <a:solidFill>
                  <a:srgbClr val="1228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ko-KR" altLang="en-US" sz="800" b="0">
                <a:solidFill>
                  <a:srgbClr val="334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상황을 고려하고 테스트로 검증하는 과정이 기능 구현만큼 중요했습니다.</a:t>
            </a:r>
          </a:p>
        </p:txBody>
      </p:sp>
      <p:sp>
        <p:nvSpPr>
          <p:cNvPr id="1109" name="Text 1109"/>
          <p:cNvSpPr/>
          <p:nvPr/>
        </p:nvSpPr>
        <p:spPr>
          <a:xfrm>
            <a:off x="502920" y="3000000"/>
            <a:ext cx="81381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900" b="0">
                <a:solidFill>
                  <a:srgbClr val="5B67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목표: 인증·인가와 검색, 이력 관리, 배포까지 확장해 실제 서비스에 가까운 프로젝트로 발전시키는 것</a:t>
            </a:r>
          </a:p>
        </p:txBody>
      </p:sp>
      <p:sp>
        <p:nvSpPr>
          <p:cNvPr id="1110" name="box"/>
          <p:cNvSpPr/>
          <p:nvPr/>
        </p:nvSpPr>
        <p:spPr>
          <a:xfrm>
            <a:off x="502920" y="3620000"/>
            <a:ext cx="8138160" cy="43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1" name="Text 1111"/>
          <p:cNvSpPr/>
          <p:nvPr/>
        </p:nvSpPr>
        <p:spPr>
          <a:xfrm>
            <a:off x="702920" y="3620000"/>
            <a:ext cx="773816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buNone/>
            </a:pPr>
            <a:r>
              <a:rPr lang="ko-KR" altLang="en-US" sz="1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API는 기능이 아니라 예외와 검증에서 완성된다는 것을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921710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3292</Words>
  <Application>Microsoft Office PowerPoint</Application>
  <PresentationFormat>화면 슬라이드 쇼(16:9)</PresentationFormat>
  <Paragraphs>751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Malgun Gothic</vt:lpstr>
      <vt:lpstr>Arial</vt:lpstr>
      <vt:lpstr>Consolas</vt:lpstr>
      <vt:lpstr>Office Theme</vt:lpstr>
      <vt:lpstr>Equipment Management Service</vt:lpstr>
      <vt:lpstr>문서 구성</vt:lpstr>
      <vt:lpstr>1. 프로젝트 개요</vt:lpstr>
      <vt:lpstr>2. 문제 정의</vt:lpstr>
      <vt:lpstr>3. 사용자 정의</vt:lpstr>
      <vt:lpstr>3-1. 업무 배정 흐름 (DISPATCHER 중심)</vt:lpstr>
      <vt:lpstr>4-1. 기능 요구사항 — MASTER</vt:lpstr>
      <vt:lpstr>4-2. 기능 요구사항 — DISPATCHER</vt:lpstr>
      <vt:lpstr>4-3. 기능 요구사항 — ENGINEER</vt:lpstr>
      <vt:lpstr>4-4. 기능 요구사항 — 공통</vt:lpstr>
      <vt:lpstr>5. 비기능 요구사항 (1/2)</vt:lpstr>
      <vt:lpstr>5. 비기능 요구사항 (2/2)</vt:lpstr>
      <vt:lpstr>6. MVP 범위</vt:lpstr>
      <vt:lpstr>7. 화면 목록 (1/2)</vt:lpstr>
      <vt:lpstr>7. 화면 목록 (2/2)</vt:lpstr>
      <vt:lpstr>8. 업무 흐름</vt:lpstr>
      <vt:lpstr>9. ERD 초안 — 엔티티 구조</vt:lpstr>
      <vt:lpstr>10. DB 설계 — 테이블 관계도</vt:lpstr>
      <vt:lpstr>11. 시스템 아키텍처</vt:lpstr>
      <vt:lpstr>12-1. Swagger 테스트 — 장비 등록</vt:lpstr>
      <vt:lpstr>12-2. Swagger 테스트 — 장비 조회</vt:lpstr>
      <vt:lpstr>12-3. Swagger 테스트 — 장비 수정</vt:lpstr>
      <vt:lpstr>12-4. Swagger 테스트 — 장비 삭제</vt:lpstr>
      <vt:lpstr>13. 예외 처리 및 검증</vt:lpstr>
      <vt:lpstr>14. 테스트 결과</vt:lpstr>
      <vt:lpstr>15. 기술적 의사결정</vt:lpstr>
      <vt:lpstr>2차 Backend 수정 및 CRUD 연동</vt:lpstr>
      <vt:lpstr>대시보드 및 공장별 현황</vt:lpstr>
      <vt:lpstr>검색 / 필터 / 상세 모달</vt:lpstr>
      <vt:lpstr>로그인 / 인증 연동</vt:lpstr>
      <vt:lpstr>통합 개발 결과 및 다음 단계</vt:lpstr>
      <vt:lpstr>16. 프로젝트 회고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상혁 주</dc:creator>
  <cp:lastModifiedBy>상혁 주</cp:lastModifiedBy>
  <cp:revision>1</cp:revision>
  <dcterms:created xsi:type="dcterms:W3CDTF">2026-09-14T00:40:39Z</dcterms:created>
  <dcterms:modified xsi:type="dcterms:W3CDTF">2026-09-14T02:15:06Z</dcterms:modified>
</cp:coreProperties>
</file>